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0:30]
Bonjour à tous. En 10 minutes : ce qu'est le Backup Vault COS, pourquoi on en a besoin en plus de ce qu'on a déjà, comment on l'a mis en place chez nous, et comment on restaure.
Je vous montrerai une courte vidéo (3 min) pour la partie pratique, puis on conclut sur les recommandations.
Message clé à faire passer dès maintenant : ce n'est pas un remplaçant du versioning ni de la réplication, c'est une copie isolée avec retour dans le temps.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1:30]
Aujourd'hui on a le versioning et la réplication. Ils couvrent le delete simple et la panne d'une zone. Ils ne couvrent pas trois cas :
1. La suppression définitive : un delete avec versionId, une lifecycle qui expire les versions, ou la suppression du bucket. Le versioning ne protège que contre le delete « poli ».
2. La corruption progressive : un ransomware ou un script qui réécrit des milliers d'objets sur plusieurs heures. Avec des versions on peut techniquement revenir, mais objet par objet, pas « le bucket tel qu'il était à 14h37 ».
3. La perte du périmètre : si l'instance COS ou le compte est compromis, la réplication et les versions partent avec.
Le Backup Vault répond à ces trois cas : copie hors du bucket, retour à un instant précis, rétention impossible à raccourcir.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 2:30]
Trois blocs. À gauche le bucket source, versionné, c'est obligatoire. Au milieu le vault : une ressource COS à part, opaque, on ne peut ni lister ni lire dedans, on ne peut que restaurer. À droite le bucket cible d'un restore.
Une backup policy relie le bucket au vault. Dès qu'elle est attachée, tout ce qui est écrit ou supprimé est répliqué dans le vault, en continu, sans job à relancer. Le RPO est d'une heure au maximum.
Le vault ne garde pas des « fichiers », il garde des états : pour n'importe quel instant de la fenêtre de rétention, il peut reconstituer le bucket entier.
Point important : la rétention peut être allongée mais jamais raccourcie, et le vault ne peut pas être supprimé tant qu'il contient des données non expirées. Même un admin doit attendre.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 3:30]
Concrètement, quatre étapes.
1. Une instance COS. On recommande une instance dédiée au backup, dans son propre resource group, pour que les identités applicatives n'y aient aucun droit.
2. Le vault se crée dans cette instance, via le Swagger, la Marketplace ou la Toolchain. On fixe la rétention à ce moment-là.
3. Les autorisations service-à-service : une pour que COS puisse écrire du bucket vers le vault, une autre pour le restore du vault vers le bucket cible. Elles sont obligatoires même si tout est dans la même instance.
4. La backup policy sur le bucket, qui doit être versionné. Première synchro complète, puis continue. On peut avoir jusqu'à 3 policies par bucket, vers des vaults différents, par exemple un local et un dans une autre région.
Une lifecycle courte sur le bucket source est indispensable, sinon les versions s'accumulent : le vault se purge seul, le bucket non.
→ Lancer la vidéo ici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 – 7:30] (après la vidéo)
Le restore, c'est une opération ponctuelle, en quatre étapes.
1. On récupère les recovery ranges du vault : pour chaque bucket, une date de début et une date de fin. C'est la fenêtre dans laquelle on peut restaurer.
2. On choisit un instant précis dans cette fenêtre. C'est obligatoire, il n'y a pas de « dernier état » implicite. Typiquement juste avant l'incident, qu'on retrouve dans Activity Tracker.
3. On lance le restore avec l'id du range, l'instant, le type in_place et le CRN du bucket cible.
4. On suit le job jusqu'à complete. Trois restores maximum en parallèle par vault.
Ce qu'il faut retenir : le restore est additif. Il écrit les versions de l'instant T dans la cible, il ne supprime rien. Donc pas de risque d'aggraver un incident. Bonne pratique : restaurer dans un bucket temporaire, vérifier, puis copier ce qu'il faut.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[7:30 – 8:15]
Le point qui crée le plus de confusion : la rétention.
Ce n'est pas la durée de vie du backup, c'est une fenêtre glissante. Le vault garde tout ce qu'il faut pour reconstituer le bucket à n'importe quel instant des N derniers jours, et purge physiquement le reste.
Sur la frise : un objet supprimé au jour J reste restaurable jusqu'à J+N. Ensuite il disparaît réellement du vault, même s'il y avait un delete marker.
Avec 1 jour de rétention et 1 heure de RPO, on a 23 heures utiles. Un incident un vendredi soir détecté lundi matin : perdu.
Notre recommandation : 7 jours minimum, 30 jours pour les buckets critiques. Et comme on ne peut pas raccourcir, on part prudent.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[8:15 – 9:00]
Pour situer le vault par rapport à ce qu'on connaît.
Le versioning et Object Lock protègent dans le bucket : RPO zéro, récupération immédiate d'un objet, mais tout est dans le même bucket, la même instance, le même compte. Et retrouver l'état complet à un instant T se fait clé par clé.
La réplication copie ailleurs, mais copie aussi les suppressions.
Le vault est le seul à donner le point-in-time natif et la copie hors du périmètre de faute. En échange : une heure de RPO et un restore à lancer.
Ce ne sont pas des concurrents. Object Lock court sur la prod pour récupérer vite en place ; vault isolé pour les buckets critiques.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 – 10:00]
Pour terminer, quatre propositions.
1. Tous les buckets prod : versioning avec une lifecycle d'un jour sur les versions non courantes pour ne pas faire gonfler le stockage. Object Lock 7 jours quand l'immutabilité est demandée.
2. Buckets critiques : Backup Vault 30 jours, dans une instance et un resource group dédiés, dans une autre région. Compte séparé si une exigence de résilience cyber l'impose.
3. Gouvernance : les policies applicatives scopées bucket par bucket, un access group backup admins distinct, et des alertes Activity Tracker sur toute suppression de vault ou modification de rétention.
4. Un restore de test par trimestre, chronométré, pour connaître notre RTO réel.
La doc Confluence détaille tout ça, y compris le comparatif avec AWS Backup. Questions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2E"/>
        </a:solidFill>
      </p:bgPr>
    </p:bg>
    <p:spTree>
      <p:nvGrpSpPr>
        <p:cNvPr id="1" name=""/>
        <p:cNvGrpSpPr/>
        <p:nvPr/>
      </p:nvGrpSpPr>
      <p:grpSpPr>
        <a:xfrm>
          <a:off x="0" y="0"/>
          <a:ext cx="0" cy="0"/>
          <a:chOff x="0" y="0"/>
          <a:chExt cx="0" cy="0"/>
        </a:xfrm>
      </p:grpSpPr>
      <p:sp>
        <p:nvSpPr>
          <p:cNvPr id="2" name="Shape 0"/>
          <p:cNvSpPr/>
          <p:nvPr/>
        </p:nvSpPr>
        <p:spPr>
          <a:xfrm>
            <a:off x="6583680" y="-1097280"/>
            <a:ext cx="4114800" cy="4114800"/>
          </a:xfrm>
          <a:prstGeom prst="ellipse">
            <a:avLst/>
          </a:prstGeom>
          <a:solidFill>
            <a:srgbClr val="00915A">
              <a:alpha val="20000"/>
            </a:srgbClr>
          </a:solidFill>
          <a:ln w="12700">
            <a:solidFill>
              <a:srgbClr val="00915A">
                <a:alpha val="0"/>
              </a:srgbClr>
            </a:solidFill>
            <a:prstDash val="solid"/>
          </a:ln>
        </p:spPr>
      </p:sp>
      <p:sp>
        <p:nvSpPr>
          <p:cNvPr id="3" name="Text 1"/>
          <p:cNvSpPr txBox="1"/>
          <p:nvPr/>
        </p:nvSpPr>
        <p:spPr>
          <a:xfrm>
            <a:off x="548640" y="1463040"/>
            <a:ext cx="731520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COS Backup Vault</a:t>
            </a:r>
            <a:endParaRPr lang="en-US" sz="4400" dirty="0"/>
          </a:p>
        </p:txBody>
      </p:sp>
      <p:sp>
        <p:nvSpPr>
          <p:cNvPr id="4" name="Text 2"/>
          <p:cNvSpPr txBox="1"/>
          <p:nvPr/>
        </p:nvSpPr>
        <p:spPr>
          <a:xfrm>
            <a:off x="548640" y="2331720"/>
            <a:ext cx="6858000" cy="822960"/>
          </a:xfrm>
          <a:prstGeom prst="rect">
            <a:avLst/>
          </a:prstGeom>
          <a:noFill/>
          <a:ln/>
        </p:spPr>
        <p:txBody>
          <a:bodyPr wrap="square" lIns="0" tIns="0" rIns="0" bIns="0" rtlCol="0" anchor="ctr"/>
          <a:lstStyle/>
          <a:p>
            <a:pPr indent="0" marL="0">
              <a:buNone/>
            </a:pPr>
            <a:r>
              <a:rPr lang="en-US" sz="1800" dirty="0">
                <a:solidFill>
                  <a:srgbClr val="CFE8DA"/>
                </a:solidFill>
                <a:latin typeface="Calibri" pitchFamily="34" charset="0"/>
                <a:ea typeface="Calibri" pitchFamily="34" charset="-122"/>
                <a:cs typeface="Calibri" pitchFamily="34" charset="-120"/>
              </a:rPr>
              <a:t>Sauvegarde continue et restauration point-in-time de nos buckets IBM Cloud Object Storage</a:t>
            </a:r>
            <a:endParaRPr lang="en-US" sz="1800" dirty="0"/>
          </a:p>
        </p:txBody>
      </p:sp>
      <p:sp>
        <p:nvSpPr>
          <p:cNvPr id="5" name="Text 3"/>
          <p:cNvSpPr txBox="1"/>
          <p:nvPr/>
        </p:nvSpPr>
        <p:spPr>
          <a:xfrm>
            <a:off x="548640" y="4114800"/>
            <a:ext cx="7315200" cy="365760"/>
          </a:xfrm>
          <a:prstGeom prst="rect">
            <a:avLst/>
          </a:prstGeom>
          <a:noFill/>
          <a:ln/>
        </p:spPr>
        <p:txBody>
          <a:bodyPr wrap="square" lIns="0" tIns="0" rIns="0" bIns="0" rtlCol="0" anchor="ctr"/>
          <a:lstStyle/>
          <a:p>
            <a:pPr indent="0" marL="0">
              <a:buNone/>
            </a:pPr>
            <a:r>
              <a:rPr lang="en-US" sz="1200" dirty="0">
                <a:solidFill>
                  <a:srgbClr val="9DC9B4"/>
                </a:solidFill>
                <a:latin typeface="Calibri" pitchFamily="34" charset="0"/>
                <a:ea typeface="Calibri" pitchFamily="34" charset="-122"/>
                <a:cs typeface="Calibri" pitchFamily="34" charset="-120"/>
              </a:rPr>
              <a:t>Karim ES-SOUABNI  ·  DevOps / Cloud  ·  Septembre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0B3D2E"/>
                </a:solidFill>
                <a:latin typeface="Cambria" pitchFamily="34" charset="0"/>
                <a:ea typeface="Cambria" pitchFamily="34" charset="-122"/>
                <a:cs typeface="Cambria" pitchFamily="34" charset="-120"/>
              </a:rPr>
              <a:t>Pourquoi un Backup Vault ?</a:t>
            </a:r>
            <a:endParaRPr lang="en-US" sz="3000" dirty="0"/>
          </a:p>
        </p:txBody>
      </p:sp>
      <p:sp>
        <p:nvSpPr>
          <p:cNvPr id="3" name="Text 1"/>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400" i="1" dirty="0">
                <a:solidFill>
                  <a:srgbClr val="5F6B66"/>
                </a:solidFill>
                <a:latin typeface="Calibri" pitchFamily="34" charset="0"/>
                <a:ea typeface="Calibri" pitchFamily="34" charset="-122"/>
                <a:cs typeface="Calibri" pitchFamily="34" charset="-120"/>
              </a:rPr>
              <a:t>Ce que versioning et réplication ne couvrent pas</a:t>
            </a:r>
            <a:endParaRPr lang="en-US" sz="1400" dirty="0"/>
          </a:p>
        </p:txBody>
      </p:sp>
      <p:sp>
        <p:nvSpPr>
          <p:cNvPr id="4" name="Shape 2"/>
          <p:cNvSpPr/>
          <p:nvPr/>
        </p:nvSpPr>
        <p:spPr>
          <a:xfrm>
            <a:off x="457200" y="1463040"/>
            <a:ext cx="2606040" cy="3017520"/>
          </a:xfrm>
          <a:prstGeom prst="roundRect">
            <a:avLst>
              <a:gd name="adj" fmla="val 4211"/>
            </a:avLst>
          </a:prstGeom>
          <a:solidFill>
            <a:srgbClr val="E6F4EC"/>
          </a:solidFill>
          <a:ln w="12700">
            <a:solidFill>
              <a:srgbClr val="E6F4EC"/>
            </a:solidFill>
            <a:prstDash val="solid"/>
          </a:ln>
        </p:spPr>
      </p:sp>
      <p:sp>
        <p:nvSpPr>
          <p:cNvPr id="5" name="Shape 3"/>
          <p:cNvSpPr/>
          <p:nvPr/>
        </p:nvSpPr>
        <p:spPr>
          <a:xfrm>
            <a:off x="685800" y="1691640"/>
            <a:ext cx="548640" cy="548640"/>
          </a:xfrm>
          <a:prstGeom prst="ellipse">
            <a:avLst/>
          </a:prstGeom>
          <a:solidFill>
            <a:srgbClr val="00915A"/>
          </a:solidFill>
          <a:ln w="12700">
            <a:solidFill>
              <a:srgbClr val="00915A"/>
            </a:solidFill>
            <a:prstDash val="solid"/>
          </a:ln>
        </p:spPr>
      </p:sp>
      <p:pic>
        <p:nvPicPr>
          <p:cNvPr id="6" name="Image 0" descr="preencoded.png">    </p:cNvPr>
          <p:cNvPicPr>
            <a:picLocks noChangeAspect="1"/>
          </p:cNvPicPr>
          <p:nvPr/>
        </p:nvPicPr>
        <p:blipFill>
          <a:blip r:embed="rId1"/>
          <a:stretch>
            <a:fillRect/>
          </a:stretch>
        </p:blipFill>
        <p:spPr>
          <a:xfrm>
            <a:off x="804672" y="1810512"/>
            <a:ext cx="310896" cy="310896"/>
          </a:xfrm>
          <a:prstGeom prst="rect">
            <a:avLst/>
          </a:prstGeom>
        </p:spPr>
      </p:pic>
      <p:sp>
        <p:nvSpPr>
          <p:cNvPr id="7" name="Text 4"/>
          <p:cNvSpPr txBox="1"/>
          <p:nvPr/>
        </p:nvSpPr>
        <p:spPr>
          <a:xfrm>
            <a:off x="685800" y="2377440"/>
            <a:ext cx="2194560" cy="457200"/>
          </a:xfrm>
          <a:prstGeom prst="rect">
            <a:avLst/>
          </a:prstGeom>
          <a:noFill/>
          <a:ln/>
        </p:spPr>
        <p:txBody>
          <a:bodyPr wrap="square" lIns="0" tIns="0" rIns="0" bIns="0" rtlCol="0" anchor="ctr"/>
          <a:lstStyle/>
          <a:p>
            <a:pPr indent="0" marL="0">
              <a:buNone/>
            </a:pPr>
            <a:r>
              <a:rPr lang="en-US" sz="1600" b="1" dirty="0">
                <a:solidFill>
                  <a:srgbClr val="0B3D2E"/>
                </a:solidFill>
                <a:latin typeface="Cambria" pitchFamily="34" charset="0"/>
                <a:ea typeface="Cambria" pitchFamily="34" charset="-122"/>
                <a:cs typeface="Cambria" pitchFamily="34" charset="-120"/>
              </a:rPr>
              <a:t>Suppression définitive</a:t>
            </a:r>
            <a:endParaRPr lang="en-US" sz="1600" dirty="0"/>
          </a:p>
        </p:txBody>
      </p:sp>
      <p:sp>
        <p:nvSpPr>
          <p:cNvPr id="8" name="Text 5"/>
          <p:cNvSpPr txBox="1"/>
          <p:nvPr/>
        </p:nvSpPr>
        <p:spPr>
          <a:xfrm>
            <a:off x="685800" y="2834640"/>
            <a:ext cx="2194560" cy="1463040"/>
          </a:xfrm>
          <a:prstGeom prst="rect">
            <a:avLst/>
          </a:prstGeom>
          <a:noFill/>
          <a:ln/>
        </p:spPr>
        <p:txBody>
          <a:bodyPr wrap="square" lIns="0" tIns="0" rIns="0" bIns="0" rtlCol="0" anchor="t"/>
          <a:lstStyle/>
          <a:p>
            <a:pPr indent="0" marL="0">
              <a:buNone/>
            </a:pPr>
            <a:r>
              <a:rPr lang="en-US" sz="1200" dirty="0">
                <a:solidFill>
                  <a:srgbClr val="1B1B1B"/>
                </a:solidFill>
                <a:latin typeface="Calibri" pitchFamily="34" charset="0"/>
                <a:ea typeface="Calibri" pitchFamily="34" charset="-122"/>
                <a:cs typeface="Calibri" pitchFamily="34" charset="-120"/>
              </a:rPr>
              <a:t>Delete d'une version précise, lifecycle mal réglée, bucket supprimé : le versioning ne rend rien.</a:t>
            </a:r>
            <a:endParaRPr lang="en-US" sz="1200" dirty="0"/>
          </a:p>
        </p:txBody>
      </p:sp>
      <p:sp>
        <p:nvSpPr>
          <p:cNvPr id="9" name="Shape 6"/>
          <p:cNvSpPr/>
          <p:nvPr/>
        </p:nvSpPr>
        <p:spPr>
          <a:xfrm>
            <a:off x="3246120" y="1463040"/>
            <a:ext cx="2606040" cy="3017520"/>
          </a:xfrm>
          <a:prstGeom prst="roundRect">
            <a:avLst>
              <a:gd name="adj" fmla="val 4211"/>
            </a:avLst>
          </a:prstGeom>
          <a:solidFill>
            <a:srgbClr val="E6F4EC"/>
          </a:solidFill>
          <a:ln w="12700">
            <a:solidFill>
              <a:srgbClr val="E6F4EC"/>
            </a:solidFill>
            <a:prstDash val="solid"/>
          </a:ln>
        </p:spPr>
      </p:sp>
      <p:sp>
        <p:nvSpPr>
          <p:cNvPr id="10" name="Shape 7"/>
          <p:cNvSpPr/>
          <p:nvPr/>
        </p:nvSpPr>
        <p:spPr>
          <a:xfrm>
            <a:off x="3474720" y="1691640"/>
            <a:ext cx="548640" cy="548640"/>
          </a:xfrm>
          <a:prstGeom prst="ellipse">
            <a:avLst/>
          </a:prstGeom>
          <a:solidFill>
            <a:srgbClr val="00915A"/>
          </a:solidFill>
          <a:ln w="12700">
            <a:solidFill>
              <a:srgbClr val="00915A"/>
            </a:solidFill>
            <a:prstDash val="solid"/>
          </a:ln>
        </p:spPr>
      </p:sp>
      <p:pic>
        <p:nvPicPr>
          <p:cNvPr id="11" name="Image 1" descr="preencoded.png">    </p:cNvPr>
          <p:cNvPicPr>
            <a:picLocks noChangeAspect="1"/>
          </p:cNvPicPr>
          <p:nvPr/>
        </p:nvPicPr>
        <p:blipFill>
          <a:blip r:embed="rId2"/>
          <a:stretch>
            <a:fillRect/>
          </a:stretch>
        </p:blipFill>
        <p:spPr>
          <a:xfrm>
            <a:off x="3593592" y="1810512"/>
            <a:ext cx="310896" cy="310896"/>
          </a:xfrm>
          <a:prstGeom prst="rect">
            <a:avLst/>
          </a:prstGeom>
        </p:spPr>
      </p:pic>
      <p:sp>
        <p:nvSpPr>
          <p:cNvPr id="12" name="Text 8"/>
          <p:cNvSpPr txBox="1"/>
          <p:nvPr/>
        </p:nvSpPr>
        <p:spPr>
          <a:xfrm>
            <a:off x="3474720" y="2377440"/>
            <a:ext cx="2194560" cy="457200"/>
          </a:xfrm>
          <a:prstGeom prst="rect">
            <a:avLst/>
          </a:prstGeom>
          <a:noFill/>
          <a:ln/>
        </p:spPr>
        <p:txBody>
          <a:bodyPr wrap="square" lIns="0" tIns="0" rIns="0" bIns="0" rtlCol="0" anchor="ctr"/>
          <a:lstStyle/>
          <a:p>
            <a:pPr indent="0" marL="0">
              <a:buNone/>
            </a:pPr>
            <a:r>
              <a:rPr lang="en-US" sz="1600" b="1" dirty="0">
                <a:solidFill>
                  <a:srgbClr val="0B3D2E"/>
                </a:solidFill>
                <a:latin typeface="Cambria" pitchFamily="34" charset="0"/>
                <a:ea typeface="Cambria" pitchFamily="34" charset="-122"/>
                <a:cs typeface="Cambria" pitchFamily="34" charset="-120"/>
              </a:rPr>
              <a:t>Corruption progressive</a:t>
            </a:r>
            <a:endParaRPr lang="en-US" sz="1600" dirty="0"/>
          </a:p>
        </p:txBody>
      </p:sp>
      <p:sp>
        <p:nvSpPr>
          <p:cNvPr id="13" name="Text 9"/>
          <p:cNvSpPr txBox="1"/>
          <p:nvPr/>
        </p:nvSpPr>
        <p:spPr>
          <a:xfrm>
            <a:off x="3474720" y="2834640"/>
            <a:ext cx="2194560" cy="1463040"/>
          </a:xfrm>
          <a:prstGeom prst="rect">
            <a:avLst/>
          </a:prstGeom>
          <a:noFill/>
          <a:ln/>
        </p:spPr>
        <p:txBody>
          <a:bodyPr wrap="square" lIns="0" tIns="0" rIns="0" bIns="0" rtlCol="0" anchor="t"/>
          <a:lstStyle/>
          <a:p>
            <a:pPr indent="0" marL="0">
              <a:buNone/>
            </a:pPr>
            <a:r>
              <a:rPr lang="en-US" sz="1200" dirty="0">
                <a:solidFill>
                  <a:srgbClr val="1B1B1B"/>
                </a:solidFill>
                <a:latin typeface="Calibri" pitchFamily="34" charset="0"/>
                <a:ea typeface="Calibri" pitchFamily="34" charset="-122"/>
                <a:cs typeface="Calibri" pitchFamily="34" charset="-120"/>
              </a:rPr>
              <a:t>Ransomware, script qui réécrit des milliers d'objets. Reconstituer l'état à 14h37 clé par clé est impossible à l'échelle.</a:t>
            </a:r>
            <a:endParaRPr lang="en-US" sz="1200" dirty="0"/>
          </a:p>
        </p:txBody>
      </p:sp>
      <p:sp>
        <p:nvSpPr>
          <p:cNvPr id="14" name="Shape 10"/>
          <p:cNvSpPr/>
          <p:nvPr/>
        </p:nvSpPr>
        <p:spPr>
          <a:xfrm>
            <a:off x="6035040" y="1463040"/>
            <a:ext cx="2606040" cy="3017520"/>
          </a:xfrm>
          <a:prstGeom prst="roundRect">
            <a:avLst>
              <a:gd name="adj" fmla="val 4211"/>
            </a:avLst>
          </a:prstGeom>
          <a:solidFill>
            <a:srgbClr val="E6F4EC"/>
          </a:solidFill>
          <a:ln w="12700">
            <a:solidFill>
              <a:srgbClr val="E6F4EC"/>
            </a:solidFill>
            <a:prstDash val="solid"/>
          </a:ln>
        </p:spPr>
      </p:sp>
      <p:sp>
        <p:nvSpPr>
          <p:cNvPr id="15" name="Shape 11"/>
          <p:cNvSpPr/>
          <p:nvPr/>
        </p:nvSpPr>
        <p:spPr>
          <a:xfrm>
            <a:off x="6263640" y="1691640"/>
            <a:ext cx="548640" cy="548640"/>
          </a:xfrm>
          <a:prstGeom prst="ellipse">
            <a:avLst/>
          </a:prstGeom>
          <a:solidFill>
            <a:srgbClr val="00915A"/>
          </a:solidFill>
          <a:ln w="12700">
            <a:solidFill>
              <a:srgbClr val="00915A"/>
            </a:solidFill>
            <a:prstDash val="solid"/>
          </a:ln>
        </p:spPr>
      </p:sp>
      <p:pic>
        <p:nvPicPr>
          <p:cNvPr id="16" name="Image 2" descr="preencoded.png">    </p:cNvPr>
          <p:cNvPicPr>
            <a:picLocks noChangeAspect="1"/>
          </p:cNvPicPr>
          <p:nvPr/>
        </p:nvPicPr>
        <p:blipFill>
          <a:blip r:embed="rId3"/>
          <a:stretch>
            <a:fillRect/>
          </a:stretch>
        </p:blipFill>
        <p:spPr>
          <a:xfrm>
            <a:off x="6382512" y="1810512"/>
            <a:ext cx="310896" cy="310896"/>
          </a:xfrm>
          <a:prstGeom prst="rect">
            <a:avLst/>
          </a:prstGeom>
        </p:spPr>
      </p:pic>
      <p:sp>
        <p:nvSpPr>
          <p:cNvPr id="17" name="Text 12"/>
          <p:cNvSpPr txBox="1"/>
          <p:nvPr/>
        </p:nvSpPr>
        <p:spPr>
          <a:xfrm>
            <a:off x="6263640" y="2377440"/>
            <a:ext cx="2194560" cy="457200"/>
          </a:xfrm>
          <a:prstGeom prst="rect">
            <a:avLst/>
          </a:prstGeom>
          <a:noFill/>
          <a:ln/>
        </p:spPr>
        <p:txBody>
          <a:bodyPr wrap="square" lIns="0" tIns="0" rIns="0" bIns="0" rtlCol="0" anchor="ctr"/>
          <a:lstStyle/>
          <a:p>
            <a:pPr indent="0" marL="0">
              <a:buNone/>
            </a:pPr>
            <a:r>
              <a:rPr lang="en-US" sz="1600" b="1" dirty="0">
                <a:solidFill>
                  <a:srgbClr val="0B3D2E"/>
                </a:solidFill>
                <a:latin typeface="Cambria" pitchFamily="34" charset="0"/>
                <a:ea typeface="Cambria" pitchFamily="34" charset="-122"/>
                <a:cs typeface="Cambria" pitchFamily="34" charset="-120"/>
              </a:rPr>
              <a:t>Perte du périmètre</a:t>
            </a:r>
            <a:endParaRPr lang="en-US" sz="1600" dirty="0"/>
          </a:p>
        </p:txBody>
      </p:sp>
      <p:sp>
        <p:nvSpPr>
          <p:cNvPr id="18" name="Text 13"/>
          <p:cNvSpPr txBox="1"/>
          <p:nvPr/>
        </p:nvSpPr>
        <p:spPr>
          <a:xfrm>
            <a:off x="6263640" y="2834640"/>
            <a:ext cx="2194560" cy="1463040"/>
          </a:xfrm>
          <a:prstGeom prst="rect">
            <a:avLst/>
          </a:prstGeom>
          <a:noFill/>
          <a:ln/>
        </p:spPr>
        <p:txBody>
          <a:bodyPr wrap="square" lIns="0" tIns="0" rIns="0" bIns="0" rtlCol="0" anchor="t"/>
          <a:lstStyle/>
          <a:p>
            <a:pPr indent="0" marL="0">
              <a:buNone/>
            </a:pPr>
            <a:r>
              <a:rPr lang="en-US" sz="1200" dirty="0">
                <a:solidFill>
                  <a:srgbClr val="1B1B1B"/>
                </a:solidFill>
                <a:latin typeface="Calibri" pitchFamily="34" charset="0"/>
                <a:ea typeface="Calibri" pitchFamily="34" charset="-122"/>
                <a:cs typeface="Calibri" pitchFamily="34" charset="-120"/>
              </a:rPr>
              <a:t>Instance COS ou compte compromis, incident régional : réplication et versions disparaissent avec le source.</a:t>
            </a:r>
            <a:endParaRPr lang="en-US" sz="1200" dirty="0"/>
          </a:p>
        </p:txBody>
      </p:sp>
      <p:sp>
        <p:nvSpPr>
          <p:cNvPr id="19" name="Text 14"/>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900" dirty="0">
                <a:solidFill>
                  <a:srgbClr val="5F6B66"/>
                </a:solidFill>
                <a:latin typeface="Calibri" pitchFamily="34" charset="0"/>
                <a:ea typeface="Calibri" pitchFamily="34" charset="-122"/>
                <a:cs typeface="Calibri" pitchFamily="34" charset="-120"/>
              </a:rPr>
              <a:t>COS Backup Vault  ·  2/8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0B3D2E"/>
                </a:solidFill>
                <a:latin typeface="Cambria" pitchFamily="34" charset="0"/>
                <a:ea typeface="Cambria" pitchFamily="34" charset="-122"/>
                <a:cs typeface="Cambria" pitchFamily="34" charset="-120"/>
              </a:rPr>
              <a:t>Comment ça marche</a:t>
            </a:r>
            <a:endParaRPr lang="en-US" sz="3000" dirty="0"/>
          </a:p>
        </p:txBody>
      </p:sp>
      <p:sp>
        <p:nvSpPr>
          <p:cNvPr id="3" name="Shape 1"/>
          <p:cNvSpPr/>
          <p:nvPr/>
        </p:nvSpPr>
        <p:spPr>
          <a:xfrm>
            <a:off x="457200" y="1737360"/>
            <a:ext cx="2103120" cy="1371600"/>
          </a:xfrm>
          <a:prstGeom prst="roundRect">
            <a:avLst>
              <a:gd name="adj" fmla="val 6667"/>
            </a:avLst>
          </a:prstGeom>
          <a:solidFill>
            <a:srgbClr val="E6F4EC"/>
          </a:solidFill>
          <a:ln w="12700">
            <a:solidFill>
              <a:srgbClr val="E6F4EC"/>
            </a:solidFill>
            <a:prstDash val="solid"/>
          </a:ln>
        </p:spPr>
      </p:sp>
      <p:sp>
        <p:nvSpPr>
          <p:cNvPr id="4" name="Text 2"/>
          <p:cNvSpPr txBox="1"/>
          <p:nvPr/>
        </p:nvSpPr>
        <p:spPr>
          <a:xfrm>
            <a:off x="594360" y="1874520"/>
            <a:ext cx="1828800" cy="365760"/>
          </a:xfrm>
          <a:prstGeom prst="rect">
            <a:avLst/>
          </a:prstGeom>
          <a:noFill/>
          <a:ln/>
        </p:spPr>
        <p:txBody>
          <a:bodyPr wrap="square" lIns="0" tIns="0" rIns="0" bIns="0" rtlCol="0" anchor="ctr"/>
          <a:lstStyle/>
          <a:p>
            <a:pPr indent="0" marL="0">
              <a:buNone/>
            </a:pPr>
            <a:r>
              <a:rPr lang="en-US" sz="1500" b="1" dirty="0">
                <a:solidFill>
                  <a:srgbClr val="0B3D2E"/>
                </a:solidFill>
                <a:latin typeface="Cambria" pitchFamily="34" charset="0"/>
                <a:ea typeface="Cambria" pitchFamily="34" charset="-122"/>
                <a:cs typeface="Cambria" pitchFamily="34" charset="-120"/>
              </a:rPr>
              <a:t>Bucket source</a:t>
            </a:r>
            <a:endParaRPr lang="en-US" sz="1500" dirty="0"/>
          </a:p>
        </p:txBody>
      </p:sp>
      <p:sp>
        <p:nvSpPr>
          <p:cNvPr id="5" name="Text 3"/>
          <p:cNvSpPr txBox="1"/>
          <p:nvPr/>
        </p:nvSpPr>
        <p:spPr>
          <a:xfrm>
            <a:off x="594360" y="2240280"/>
            <a:ext cx="1828800" cy="731520"/>
          </a:xfrm>
          <a:prstGeom prst="rect">
            <a:avLst/>
          </a:prstGeom>
          <a:noFill/>
          <a:ln/>
        </p:spPr>
        <p:txBody>
          <a:bodyPr wrap="square" lIns="0" tIns="0" rIns="0" bIns="0" rtlCol="0" anchor="t"/>
          <a:lstStyle/>
          <a:p>
            <a:pPr indent="0" marL="0">
              <a:buNone/>
            </a:pPr>
            <a:r>
              <a:rPr lang="en-US" sz="1100" dirty="0">
                <a:solidFill>
                  <a:srgbClr val="0B3D2E"/>
                </a:solidFill>
                <a:latin typeface="Calibri" pitchFamily="34" charset="0"/>
                <a:ea typeface="Calibri" pitchFamily="34" charset="-122"/>
                <a:cs typeface="Calibri" pitchFamily="34" charset="-120"/>
              </a:rPr>
              <a:t>Versionné (obligatoire)</a:t>
            </a:r>
            <a:endParaRPr lang="en-US" sz="1100" dirty="0"/>
          </a:p>
          <a:p>
            <a:pPr indent="0" marL="0">
              <a:buNone/>
            </a:pPr>
            <a:r>
              <a:rPr lang="en-US" sz="1100" dirty="0">
                <a:solidFill>
                  <a:srgbClr val="0B3D2E"/>
                </a:solidFill>
                <a:latin typeface="Calibri" pitchFamily="34" charset="0"/>
                <a:ea typeface="Calibri" pitchFamily="34" charset="-122"/>
                <a:cs typeface="Calibri" pitchFamily="34" charset="-120"/>
              </a:rPr>
              <a:t>Lifecycle 1 j sur les versions</a:t>
            </a:r>
            <a:endParaRPr lang="en-US" sz="1100" dirty="0"/>
          </a:p>
        </p:txBody>
      </p:sp>
      <p:sp>
        <p:nvSpPr>
          <p:cNvPr id="6" name="Shape 4"/>
          <p:cNvSpPr/>
          <p:nvPr/>
        </p:nvSpPr>
        <p:spPr>
          <a:xfrm>
            <a:off x="2697480" y="2240280"/>
            <a:ext cx="1005840" cy="320040"/>
          </a:xfrm>
          <a:prstGeom prst="rightArrow">
            <a:avLst/>
          </a:prstGeom>
          <a:solidFill>
            <a:srgbClr val="00915A"/>
          </a:solidFill>
          <a:ln w="12700">
            <a:solidFill>
              <a:srgbClr val="00915A"/>
            </a:solidFill>
            <a:prstDash val="solid"/>
          </a:ln>
        </p:spPr>
      </p:sp>
      <p:sp>
        <p:nvSpPr>
          <p:cNvPr id="7" name="Text 5"/>
          <p:cNvSpPr txBox="1"/>
          <p:nvPr/>
        </p:nvSpPr>
        <p:spPr>
          <a:xfrm>
            <a:off x="2514600" y="1828800"/>
            <a:ext cx="1371600" cy="365760"/>
          </a:xfrm>
          <a:prstGeom prst="rect">
            <a:avLst/>
          </a:prstGeom>
          <a:noFill/>
          <a:ln/>
        </p:spPr>
        <p:txBody>
          <a:bodyPr wrap="square" lIns="0" tIns="0" rIns="0" bIns="0" rtlCol="0" anchor="ctr"/>
          <a:lstStyle/>
          <a:p>
            <a:pPr algn="ctr" indent="0" marL="0">
              <a:buNone/>
            </a:pPr>
            <a:r>
              <a:rPr lang="en-US" sz="1000" dirty="0">
                <a:solidFill>
                  <a:srgbClr val="5F6B66"/>
                </a:solidFill>
                <a:latin typeface="Calibri" pitchFamily="34" charset="0"/>
                <a:ea typeface="Calibri" pitchFamily="34" charset="-122"/>
                <a:cs typeface="Calibri" pitchFamily="34" charset="-120"/>
              </a:rPr>
              <a:t>Backup policy</a:t>
            </a:r>
            <a:endParaRPr lang="en-US" sz="1000" dirty="0"/>
          </a:p>
          <a:p>
            <a:pPr algn="ctr" indent="0" marL="0">
              <a:buNone/>
            </a:pPr>
            <a:r>
              <a:rPr lang="en-US" sz="1000" dirty="0">
                <a:solidFill>
                  <a:srgbClr val="5F6B66"/>
                </a:solidFill>
                <a:latin typeface="Calibri" pitchFamily="34" charset="0"/>
                <a:ea typeface="Calibri" pitchFamily="34" charset="-122"/>
                <a:cs typeface="Calibri" pitchFamily="34" charset="-120"/>
              </a:rPr>
              <a:t>continue</a:t>
            </a:r>
            <a:endParaRPr lang="en-US" sz="1000" dirty="0"/>
          </a:p>
        </p:txBody>
      </p:sp>
      <p:sp>
        <p:nvSpPr>
          <p:cNvPr id="8" name="Shape 6"/>
          <p:cNvSpPr/>
          <p:nvPr/>
        </p:nvSpPr>
        <p:spPr>
          <a:xfrm>
            <a:off x="3840480" y="1463040"/>
            <a:ext cx="2377440" cy="1920240"/>
          </a:xfrm>
          <a:prstGeom prst="roundRect">
            <a:avLst>
              <a:gd name="adj" fmla="val 4762"/>
            </a:avLst>
          </a:prstGeom>
          <a:solidFill>
            <a:srgbClr val="0B3D2E"/>
          </a:solidFill>
          <a:ln w="12700">
            <a:solidFill>
              <a:srgbClr val="0B3D2E"/>
            </a:solidFill>
            <a:prstDash val="solid"/>
          </a:ln>
        </p:spPr>
      </p:sp>
      <p:sp>
        <p:nvSpPr>
          <p:cNvPr id="9" name="Text 7"/>
          <p:cNvSpPr txBox="1"/>
          <p:nvPr/>
        </p:nvSpPr>
        <p:spPr>
          <a:xfrm>
            <a:off x="3977640" y="1600200"/>
            <a:ext cx="210312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Backup Vault</a:t>
            </a:r>
            <a:endParaRPr lang="en-US" sz="1500" dirty="0"/>
          </a:p>
        </p:txBody>
      </p:sp>
      <p:sp>
        <p:nvSpPr>
          <p:cNvPr id="10" name="Text 8"/>
          <p:cNvSpPr txBox="1"/>
          <p:nvPr/>
        </p:nvSpPr>
        <p:spPr>
          <a:xfrm>
            <a:off x="3977640" y="1965960"/>
            <a:ext cx="2103120" cy="128016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Ressource COS opaque</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Pas de listing, pas de GET</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Stocke des recovery ranges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Rétention : jamais raccourcie</a:t>
            </a:r>
            <a:endParaRPr lang="en-US" sz="1100" dirty="0"/>
          </a:p>
        </p:txBody>
      </p:sp>
      <p:sp>
        <p:nvSpPr>
          <p:cNvPr id="11" name="Shape 9"/>
          <p:cNvSpPr/>
          <p:nvPr/>
        </p:nvSpPr>
        <p:spPr>
          <a:xfrm>
            <a:off x="6355080" y="2240280"/>
            <a:ext cx="1005840" cy="320040"/>
          </a:xfrm>
          <a:prstGeom prst="rightArrow">
            <a:avLst/>
          </a:prstGeom>
          <a:solidFill>
            <a:srgbClr val="00915A"/>
          </a:solidFill>
          <a:ln w="12700">
            <a:solidFill>
              <a:srgbClr val="00915A"/>
            </a:solidFill>
            <a:prstDash val="solid"/>
          </a:ln>
        </p:spPr>
      </p:sp>
      <p:sp>
        <p:nvSpPr>
          <p:cNvPr id="12" name="Text 10"/>
          <p:cNvSpPr txBox="1"/>
          <p:nvPr/>
        </p:nvSpPr>
        <p:spPr>
          <a:xfrm>
            <a:off x="6172200" y="1828800"/>
            <a:ext cx="1371600" cy="365760"/>
          </a:xfrm>
          <a:prstGeom prst="rect">
            <a:avLst/>
          </a:prstGeom>
          <a:noFill/>
          <a:ln/>
        </p:spPr>
        <p:txBody>
          <a:bodyPr wrap="square" lIns="0" tIns="0" rIns="0" bIns="0" rtlCol="0" anchor="ctr"/>
          <a:lstStyle/>
          <a:p>
            <a:pPr algn="ctr" indent="0" marL="0">
              <a:buNone/>
            </a:pPr>
            <a:r>
              <a:rPr lang="en-US" sz="1000" dirty="0">
                <a:solidFill>
                  <a:srgbClr val="5F6B66"/>
                </a:solidFill>
                <a:latin typeface="Calibri" pitchFamily="34" charset="0"/>
                <a:ea typeface="Calibri" pitchFamily="34" charset="-122"/>
                <a:cs typeface="Calibri" pitchFamily="34" charset="-120"/>
              </a:rPr>
              <a:t>Restore</a:t>
            </a:r>
            <a:endParaRPr lang="en-US" sz="1000" dirty="0"/>
          </a:p>
          <a:p>
            <a:pPr algn="ctr" indent="0" marL="0">
              <a:buNone/>
            </a:pPr>
            <a:r>
              <a:rPr lang="en-US" sz="1000" dirty="0">
                <a:solidFill>
                  <a:srgbClr val="5F6B66"/>
                </a:solidFill>
                <a:latin typeface="Calibri" pitchFamily="34" charset="0"/>
                <a:ea typeface="Calibri" pitchFamily="34" charset="-122"/>
                <a:cs typeface="Calibri" pitchFamily="34" charset="-120"/>
              </a:rPr>
              <a:t>(à la demande)</a:t>
            </a:r>
            <a:endParaRPr lang="en-US" sz="1000" dirty="0"/>
          </a:p>
        </p:txBody>
      </p:sp>
      <p:sp>
        <p:nvSpPr>
          <p:cNvPr id="13" name="Shape 11"/>
          <p:cNvSpPr/>
          <p:nvPr/>
        </p:nvSpPr>
        <p:spPr>
          <a:xfrm>
            <a:off x="7498080" y="1737360"/>
            <a:ext cx="1188720" cy="1371600"/>
          </a:xfrm>
          <a:prstGeom prst="roundRect">
            <a:avLst>
              <a:gd name="adj" fmla="val 7692"/>
            </a:avLst>
          </a:prstGeom>
          <a:solidFill>
            <a:srgbClr val="E6F4EC"/>
          </a:solidFill>
          <a:ln w="12700">
            <a:solidFill>
              <a:srgbClr val="E6F4EC"/>
            </a:solidFill>
            <a:prstDash val="solid"/>
          </a:ln>
        </p:spPr>
      </p:sp>
      <p:sp>
        <p:nvSpPr>
          <p:cNvPr id="14" name="Text 12"/>
          <p:cNvSpPr txBox="1"/>
          <p:nvPr/>
        </p:nvSpPr>
        <p:spPr>
          <a:xfrm>
            <a:off x="7635240" y="1874520"/>
            <a:ext cx="914400" cy="365760"/>
          </a:xfrm>
          <a:prstGeom prst="rect">
            <a:avLst/>
          </a:prstGeom>
          <a:noFill/>
          <a:ln/>
        </p:spPr>
        <p:txBody>
          <a:bodyPr wrap="square" lIns="0" tIns="0" rIns="0" bIns="0" rtlCol="0" anchor="ctr"/>
          <a:lstStyle/>
          <a:p>
            <a:pPr indent="0" marL="0">
              <a:buNone/>
            </a:pPr>
            <a:r>
              <a:rPr lang="en-US" sz="1500" b="1" dirty="0">
                <a:solidFill>
                  <a:srgbClr val="0B3D2E"/>
                </a:solidFill>
                <a:latin typeface="Cambria" pitchFamily="34" charset="0"/>
                <a:ea typeface="Cambria" pitchFamily="34" charset="-122"/>
                <a:cs typeface="Cambria" pitchFamily="34" charset="-120"/>
              </a:rPr>
              <a:t>Cible</a:t>
            </a:r>
            <a:endParaRPr lang="en-US" sz="1500" dirty="0"/>
          </a:p>
        </p:txBody>
      </p:sp>
      <p:sp>
        <p:nvSpPr>
          <p:cNvPr id="15" name="Text 13"/>
          <p:cNvSpPr txBox="1"/>
          <p:nvPr/>
        </p:nvSpPr>
        <p:spPr>
          <a:xfrm>
            <a:off x="7635240" y="2240280"/>
            <a:ext cx="914400" cy="731520"/>
          </a:xfrm>
          <a:prstGeom prst="rect">
            <a:avLst/>
          </a:prstGeom>
          <a:noFill/>
          <a:ln/>
        </p:spPr>
        <p:txBody>
          <a:bodyPr wrap="square" lIns="0" tIns="0" rIns="0" bIns="0" rtlCol="0" anchor="t"/>
          <a:lstStyle/>
          <a:p>
            <a:pPr indent="0" marL="0">
              <a:buNone/>
            </a:pPr>
            <a:r>
              <a:rPr lang="en-US" sz="1100" dirty="0">
                <a:solidFill>
                  <a:srgbClr val="0B3D2E"/>
                </a:solidFill>
                <a:latin typeface="Calibri" pitchFamily="34" charset="0"/>
                <a:ea typeface="Calibri" pitchFamily="34" charset="-122"/>
                <a:cs typeface="Calibri" pitchFamily="34" charset="-120"/>
              </a:rPr>
              <a:t>Bucket versionné</a:t>
            </a:r>
            <a:endParaRPr lang="en-US" sz="1100" dirty="0"/>
          </a:p>
          <a:p>
            <a:pPr indent="0" marL="0">
              <a:buNone/>
            </a:pPr>
            <a:r>
              <a:rPr lang="en-US" sz="1100" dirty="0">
                <a:solidFill>
                  <a:srgbClr val="0B3D2E"/>
                </a:solidFill>
                <a:latin typeface="Calibri" pitchFamily="34" charset="0"/>
                <a:ea typeface="Calibri" pitchFamily="34" charset="-122"/>
                <a:cs typeface="Calibri" pitchFamily="34" charset="-120"/>
              </a:rPr>
              <a:t>même région</a:t>
            </a:r>
            <a:endParaRPr lang="en-US" sz="1100" dirty="0"/>
          </a:p>
        </p:txBody>
      </p:sp>
      <p:pic>
        <p:nvPicPr>
          <p:cNvPr id="16" name="Image 0" descr="preencoded.png">    </p:cNvPr>
          <p:cNvPicPr>
            <a:picLocks noChangeAspect="1"/>
          </p:cNvPicPr>
          <p:nvPr/>
        </p:nvPicPr>
        <p:blipFill>
          <a:blip r:embed="rId1"/>
          <a:stretch>
            <a:fillRect/>
          </a:stretch>
        </p:blipFill>
        <p:spPr>
          <a:xfrm>
            <a:off x="457200" y="3703320"/>
            <a:ext cx="292608" cy="292608"/>
          </a:xfrm>
          <a:prstGeom prst="rect">
            <a:avLst/>
          </a:prstGeom>
        </p:spPr>
      </p:pic>
      <p:sp>
        <p:nvSpPr>
          <p:cNvPr id="17" name="Text 14"/>
          <p:cNvSpPr txBox="1"/>
          <p:nvPr/>
        </p:nvSpPr>
        <p:spPr>
          <a:xfrm>
            <a:off x="841248" y="3657600"/>
            <a:ext cx="1645920" cy="320040"/>
          </a:xfrm>
          <a:prstGeom prst="rect">
            <a:avLst/>
          </a:prstGeom>
          <a:noFill/>
          <a:ln/>
        </p:spPr>
        <p:txBody>
          <a:bodyPr wrap="square" lIns="0" tIns="0" rIns="0" bIns="0" rtlCol="0" anchor="ctr"/>
          <a:lstStyle/>
          <a:p>
            <a:pPr indent="0" marL="0">
              <a:buNone/>
            </a:pPr>
            <a:r>
              <a:rPr lang="en-US" sz="1400" b="1" dirty="0">
                <a:solidFill>
                  <a:srgbClr val="0B3D2E"/>
                </a:solidFill>
                <a:latin typeface="Cambria" pitchFamily="34" charset="0"/>
                <a:ea typeface="Cambria" pitchFamily="34" charset="-122"/>
                <a:cs typeface="Cambria" pitchFamily="34" charset="-120"/>
              </a:rPr>
              <a:t>Continu</a:t>
            </a:r>
            <a:endParaRPr lang="en-US" sz="1400" dirty="0"/>
          </a:p>
        </p:txBody>
      </p:sp>
      <p:sp>
        <p:nvSpPr>
          <p:cNvPr id="18" name="Text 15"/>
          <p:cNvSpPr txBox="1"/>
          <p:nvPr/>
        </p:nvSpPr>
        <p:spPr>
          <a:xfrm>
            <a:off x="841248" y="3977640"/>
            <a:ext cx="1645920" cy="457200"/>
          </a:xfrm>
          <a:prstGeom prst="rect">
            <a:avLst/>
          </a:prstGeom>
          <a:noFill/>
          <a:ln/>
        </p:spPr>
        <p:txBody>
          <a:bodyPr wrap="square" lIns="0" tIns="0" rIns="0" bIns="0" rtlCol="0" anchor="ctr"/>
          <a:lstStyle/>
          <a:p>
            <a:pPr indent="0" marL="0">
              <a:buNone/>
            </a:pPr>
            <a:r>
              <a:rPr lang="en-US" sz="1100" dirty="0">
                <a:solidFill>
                  <a:srgbClr val="5F6B66"/>
                </a:solidFill>
                <a:latin typeface="Calibri" pitchFamily="34" charset="0"/>
                <a:ea typeface="Calibri" pitchFamily="34" charset="-122"/>
                <a:cs typeface="Calibri" pitchFamily="34" charset="-120"/>
              </a:rPr>
              <a:t>aucun job à relancer</a:t>
            </a:r>
            <a:endParaRPr lang="en-US" sz="1100" dirty="0"/>
          </a:p>
        </p:txBody>
      </p:sp>
      <p:pic>
        <p:nvPicPr>
          <p:cNvPr id="19" name="Image 1" descr="preencoded.png">    </p:cNvPr>
          <p:cNvPicPr>
            <a:picLocks noChangeAspect="1"/>
          </p:cNvPicPr>
          <p:nvPr/>
        </p:nvPicPr>
        <p:blipFill>
          <a:blip r:embed="rId2"/>
          <a:stretch>
            <a:fillRect/>
          </a:stretch>
        </p:blipFill>
        <p:spPr>
          <a:xfrm>
            <a:off x="2560320" y="3703320"/>
            <a:ext cx="292608" cy="292608"/>
          </a:xfrm>
          <a:prstGeom prst="rect">
            <a:avLst/>
          </a:prstGeom>
        </p:spPr>
      </p:pic>
      <p:sp>
        <p:nvSpPr>
          <p:cNvPr id="20" name="Text 16"/>
          <p:cNvSpPr txBox="1"/>
          <p:nvPr/>
        </p:nvSpPr>
        <p:spPr>
          <a:xfrm>
            <a:off x="2944368" y="3657600"/>
            <a:ext cx="1645920" cy="320040"/>
          </a:xfrm>
          <a:prstGeom prst="rect">
            <a:avLst/>
          </a:prstGeom>
          <a:noFill/>
          <a:ln/>
        </p:spPr>
        <p:txBody>
          <a:bodyPr wrap="square" lIns="0" tIns="0" rIns="0" bIns="0" rtlCol="0" anchor="ctr"/>
          <a:lstStyle/>
          <a:p>
            <a:pPr indent="0" marL="0">
              <a:buNone/>
            </a:pPr>
            <a:r>
              <a:rPr lang="en-US" sz="1400" b="1" dirty="0">
                <a:solidFill>
                  <a:srgbClr val="0B3D2E"/>
                </a:solidFill>
                <a:latin typeface="Cambria" pitchFamily="34" charset="0"/>
                <a:ea typeface="Cambria" pitchFamily="34" charset="-122"/>
                <a:cs typeface="Cambria" pitchFamily="34" charset="-120"/>
              </a:rPr>
              <a:t>RPO ≤ 1 h</a:t>
            </a:r>
            <a:endParaRPr lang="en-US" sz="1400" dirty="0"/>
          </a:p>
        </p:txBody>
      </p:sp>
      <p:sp>
        <p:nvSpPr>
          <p:cNvPr id="21" name="Text 17"/>
          <p:cNvSpPr txBox="1"/>
          <p:nvPr/>
        </p:nvSpPr>
        <p:spPr>
          <a:xfrm>
            <a:off x="2944368" y="3977640"/>
            <a:ext cx="1645920" cy="457200"/>
          </a:xfrm>
          <a:prstGeom prst="rect">
            <a:avLst/>
          </a:prstGeom>
          <a:noFill/>
          <a:ln/>
        </p:spPr>
        <p:txBody>
          <a:bodyPr wrap="square" lIns="0" tIns="0" rIns="0" bIns="0" rtlCol="0" anchor="ctr"/>
          <a:lstStyle/>
          <a:p>
            <a:pPr indent="0" marL="0">
              <a:buNone/>
            </a:pPr>
            <a:r>
              <a:rPr lang="en-US" sz="1100" dirty="0">
                <a:solidFill>
                  <a:srgbClr val="5F6B66"/>
                </a:solidFill>
                <a:latin typeface="Calibri" pitchFamily="34" charset="0"/>
                <a:ea typeface="Calibri" pitchFamily="34" charset="-122"/>
                <a:cs typeface="Calibri" pitchFamily="34" charset="-120"/>
              </a:rPr>
              <a:t>synchro asynchrone</a:t>
            </a:r>
            <a:endParaRPr lang="en-US" sz="1100" dirty="0"/>
          </a:p>
        </p:txBody>
      </p:sp>
      <p:pic>
        <p:nvPicPr>
          <p:cNvPr id="22" name="Image 2" descr="preencoded.png">    </p:cNvPr>
          <p:cNvPicPr>
            <a:picLocks noChangeAspect="1"/>
          </p:cNvPicPr>
          <p:nvPr/>
        </p:nvPicPr>
        <p:blipFill>
          <a:blip r:embed="rId3"/>
          <a:stretch>
            <a:fillRect/>
          </a:stretch>
        </p:blipFill>
        <p:spPr>
          <a:xfrm>
            <a:off x="4663440" y="3703320"/>
            <a:ext cx="292608" cy="292608"/>
          </a:xfrm>
          <a:prstGeom prst="rect">
            <a:avLst/>
          </a:prstGeom>
        </p:spPr>
      </p:pic>
      <p:sp>
        <p:nvSpPr>
          <p:cNvPr id="23" name="Text 18"/>
          <p:cNvSpPr txBox="1"/>
          <p:nvPr/>
        </p:nvSpPr>
        <p:spPr>
          <a:xfrm>
            <a:off x="5047488" y="3657600"/>
            <a:ext cx="1645920" cy="320040"/>
          </a:xfrm>
          <a:prstGeom prst="rect">
            <a:avLst/>
          </a:prstGeom>
          <a:noFill/>
          <a:ln/>
        </p:spPr>
        <p:txBody>
          <a:bodyPr wrap="square" lIns="0" tIns="0" rIns="0" bIns="0" rtlCol="0" anchor="ctr"/>
          <a:lstStyle/>
          <a:p>
            <a:pPr indent="0" marL="0">
              <a:buNone/>
            </a:pPr>
            <a:r>
              <a:rPr lang="en-US" sz="1400" b="1" dirty="0">
                <a:solidFill>
                  <a:srgbClr val="0B3D2E"/>
                </a:solidFill>
                <a:latin typeface="Cambria" pitchFamily="34" charset="0"/>
                <a:ea typeface="Cambria" pitchFamily="34" charset="-122"/>
                <a:cs typeface="Cambria" pitchFamily="34" charset="-120"/>
              </a:rPr>
              <a:t>Point-in-time</a:t>
            </a:r>
            <a:endParaRPr lang="en-US" sz="1400" dirty="0"/>
          </a:p>
        </p:txBody>
      </p:sp>
      <p:sp>
        <p:nvSpPr>
          <p:cNvPr id="24" name="Text 19"/>
          <p:cNvSpPr txBox="1"/>
          <p:nvPr/>
        </p:nvSpPr>
        <p:spPr>
          <a:xfrm>
            <a:off x="5047488" y="3977640"/>
            <a:ext cx="1645920" cy="457200"/>
          </a:xfrm>
          <a:prstGeom prst="rect">
            <a:avLst/>
          </a:prstGeom>
          <a:noFill/>
          <a:ln/>
        </p:spPr>
        <p:txBody>
          <a:bodyPr wrap="square" lIns="0" tIns="0" rIns="0" bIns="0" rtlCol="0" anchor="ctr"/>
          <a:lstStyle/>
          <a:p>
            <a:pPr indent="0" marL="0">
              <a:buNone/>
            </a:pPr>
            <a:r>
              <a:rPr lang="en-US" sz="1100" dirty="0">
                <a:solidFill>
                  <a:srgbClr val="5F6B66"/>
                </a:solidFill>
                <a:latin typeface="Calibri" pitchFamily="34" charset="0"/>
                <a:ea typeface="Calibri" pitchFamily="34" charset="-122"/>
                <a:cs typeface="Calibri" pitchFamily="34" charset="-120"/>
              </a:rPr>
              <a:t>n'importe quel instant du range</a:t>
            </a:r>
            <a:endParaRPr lang="en-US" sz="1100" dirty="0"/>
          </a:p>
        </p:txBody>
      </p:sp>
      <p:pic>
        <p:nvPicPr>
          <p:cNvPr id="25" name="Image 3" descr="preencoded.png">    </p:cNvPr>
          <p:cNvPicPr>
            <a:picLocks noChangeAspect="1"/>
          </p:cNvPicPr>
          <p:nvPr/>
        </p:nvPicPr>
        <p:blipFill>
          <a:blip r:embed="rId4"/>
          <a:stretch>
            <a:fillRect/>
          </a:stretch>
        </p:blipFill>
        <p:spPr>
          <a:xfrm>
            <a:off x="6766560" y="3703320"/>
            <a:ext cx="292608" cy="292608"/>
          </a:xfrm>
          <a:prstGeom prst="rect">
            <a:avLst/>
          </a:prstGeom>
        </p:spPr>
      </p:pic>
      <p:sp>
        <p:nvSpPr>
          <p:cNvPr id="26" name="Text 20"/>
          <p:cNvSpPr txBox="1"/>
          <p:nvPr/>
        </p:nvSpPr>
        <p:spPr>
          <a:xfrm>
            <a:off x="7150608" y="3657600"/>
            <a:ext cx="1645920" cy="320040"/>
          </a:xfrm>
          <a:prstGeom prst="rect">
            <a:avLst/>
          </a:prstGeom>
          <a:noFill/>
          <a:ln/>
        </p:spPr>
        <p:txBody>
          <a:bodyPr wrap="square" lIns="0" tIns="0" rIns="0" bIns="0" rtlCol="0" anchor="ctr"/>
          <a:lstStyle/>
          <a:p>
            <a:pPr indent="0" marL="0">
              <a:buNone/>
            </a:pPr>
            <a:r>
              <a:rPr lang="en-US" sz="1400" b="1" dirty="0">
                <a:solidFill>
                  <a:srgbClr val="0B3D2E"/>
                </a:solidFill>
                <a:latin typeface="Cambria" pitchFamily="34" charset="0"/>
                <a:ea typeface="Cambria" pitchFamily="34" charset="-122"/>
                <a:cs typeface="Cambria" pitchFamily="34" charset="-120"/>
              </a:rPr>
              <a:t>Immuable</a:t>
            </a:r>
            <a:endParaRPr lang="en-US" sz="1400" dirty="0"/>
          </a:p>
        </p:txBody>
      </p:sp>
      <p:sp>
        <p:nvSpPr>
          <p:cNvPr id="27" name="Text 21"/>
          <p:cNvSpPr txBox="1"/>
          <p:nvPr/>
        </p:nvSpPr>
        <p:spPr>
          <a:xfrm>
            <a:off x="7150608" y="3977640"/>
            <a:ext cx="1645920" cy="457200"/>
          </a:xfrm>
          <a:prstGeom prst="rect">
            <a:avLst/>
          </a:prstGeom>
          <a:noFill/>
          <a:ln/>
        </p:spPr>
        <p:txBody>
          <a:bodyPr wrap="square" lIns="0" tIns="0" rIns="0" bIns="0" rtlCol="0" anchor="ctr"/>
          <a:lstStyle/>
          <a:p>
            <a:pPr indent="0" marL="0">
              <a:buNone/>
            </a:pPr>
            <a:r>
              <a:rPr lang="en-US" sz="1100" dirty="0">
                <a:solidFill>
                  <a:srgbClr val="5F6B66"/>
                </a:solidFill>
                <a:latin typeface="Calibri" pitchFamily="34" charset="0"/>
                <a:ea typeface="Calibri" pitchFamily="34" charset="-122"/>
                <a:cs typeface="Calibri" pitchFamily="34" charset="-120"/>
              </a:rPr>
              <a:t>rétention extensible, jamais réduite</a:t>
            </a:r>
            <a:endParaRPr lang="en-US" sz="1100" dirty="0"/>
          </a:p>
        </p:txBody>
      </p:sp>
      <p:sp>
        <p:nvSpPr>
          <p:cNvPr id="28" name="Text 22"/>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900" dirty="0">
                <a:solidFill>
                  <a:srgbClr val="5F6B66"/>
                </a:solidFill>
                <a:latin typeface="Calibri" pitchFamily="34" charset="0"/>
                <a:ea typeface="Calibri" pitchFamily="34" charset="-122"/>
                <a:cs typeface="Calibri" pitchFamily="34" charset="-120"/>
              </a:rPr>
              <a:t>COS Backup Vault  ·  3/8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0B3D2E"/>
                </a:solidFill>
                <a:latin typeface="Cambria" pitchFamily="34" charset="0"/>
                <a:ea typeface="Cambria" pitchFamily="34" charset="-122"/>
                <a:cs typeface="Cambria" pitchFamily="34" charset="-120"/>
              </a:rPr>
              <a:t>Mise en place chez nous</a:t>
            </a:r>
            <a:endParaRPr lang="en-US" sz="3000" dirty="0"/>
          </a:p>
        </p:txBody>
      </p:sp>
      <p:sp>
        <p:nvSpPr>
          <p:cNvPr id="3" name="Shape 1"/>
          <p:cNvSpPr/>
          <p:nvPr/>
        </p:nvSpPr>
        <p:spPr>
          <a:xfrm>
            <a:off x="1143000" y="1280160"/>
            <a:ext cx="640080" cy="640080"/>
          </a:xfrm>
          <a:prstGeom prst="ellipse">
            <a:avLst/>
          </a:prstGeom>
          <a:solidFill>
            <a:srgbClr val="00915A"/>
          </a:solidFill>
          <a:ln w="12700">
            <a:solidFill>
              <a:srgbClr val="00915A"/>
            </a:solidFill>
            <a:prstDash val="solid"/>
          </a:ln>
        </p:spPr>
      </p:sp>
      <p:sp>
        <p:nvSpPr>
          <p:cNvPr id="4" name="Text 2"/>
          <p:cNvSpPr txBox="1"/>
          <p:nvPr/>
        </p:nvSpPr>
        <p:spPr>
          <a:xfrm>
            <a:off x="1143000" y="12801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5" name="Shape 3"/>
          <p:cNvSpPr/>
          <p:nvPr/>
        </p:nvSpPr>
        <p:spPr>
          <a:xfrm>
            <a:off x="1828800" y="1600200"/>
            <a:ext cx="731520" cy="0"/>
          </a:xfrm>
          <a:prstGeom prst="line">
            <a:avLst/>
          </a:prstGeom>
          <a:noFill/>
          <a:ln w="25400">
            <a:solidFill>
              <a:srgbClr val="C9D6CF"/>
            </a:solidFill>
            <a:prstDash val="dash"/>
          </a:ln>
        </p:spPr>
      </p:sp>
      <p:sp>
        <p:nvSpPr>
          <p:cNvPr id="6" name="Shape 4"/>
          <p:cNvSpPr/>
          <p:nvPr/>
        </p:nvSpPr>
        <p:spPr>
          <a:xfrm>
            <a:off x="457200" y="2148840"/>
            <a:ext cx="1965960" cy="2286000"/>
          </a:xfrm>
          <a:prstGeom prst="roundRect">
            <a:avLst>
              <a:gd name="adj" fmla="val 4651"/>
            </a:avLst>
          </a:prstGeom>
          <a:solidFill>
            <a:srgbClr val="E6F4EC"/>
          </a:solidFill>
          <a:ln w="12700">
            <a:solidFill>
              <a:srgbClr val="E6F4EC"/>
            </a:solidFill>
            <a:prstDash val="solid"/>
          </a:ln>
        </p:spPr>
      </p:sp>
      <p:sp>
        <p:nvSpPr>
          <p:cNvPr id="7" name="Text 5"/>
          <p:cNvSpPr txBox="1"/>
          <p:nvPr/>
        </p:nvSpPr>
        <p:spPr>
          <a:xfrm>
            <a:off x="640080" y="2286000"/>
            <a:ext cx="1645920" cy="411480"/>
          </a:xfrm>
          <a:prstGeom prst="rect">
            <a:avLst/>
          </a:prstGeom>
          <a:noFill/>
          <a:ln/>
        </p:spPr>
        <p:txBody>
          <a:bodyPr wrap="square" lIns="0" tIns="0" rIns="0" bIns="0" rtlCol="0" anchor="ctr"/>
          <a:lstStyle/>
          <a:p>
            <a:pPr indent="0" marL="0">
              <a:buNone/>
            </a:pPr>
            <a:r>
              <a:rPr lang="en-US" sz="1500" b="1" dirty="0">
                <a:solidFill>
                  <a:srgbClr val="0B3D2E"/>
                </a:solidFill>
                <a:latin typeface="Cambria" pitchFamily="34" charset="0"/>
                <a:ea typeface="Cambria" pitchFamily="34" charset="-122"/>
                <a:cs typeface="Cambria" pitchFamily="34" charset="-120"/>
              </a:rPr>
              <a:t>Instance COS</a:t>
            </a:r>
            <a:endParaRPr lang="en-US" sz="1500" dirty="0"/>
          </a:p>
        </p:txBody>
      </p:sp>
      <p:sp>
        <p:nvSpPr>
          <p:cNvPr id="8" name="Text 6"/>
          <p:cNvSpPr txBox="1"/>
          <p:nvPr/>
        </p:nvSpPr>
        <p:spPr>
          <a:xfrm>
            <a:off x="640080" y="2697480"/>
            <a:ext cx="1645920" cy="1645920"/>
          </a:xfrm>
          <a:prstGeom prst="rect">
            <a:avLst/>
          </a:prstGeom>
          <a:noFill/>
          <a:ln/>
        </p:spPr>
        <p:txBody>
          <a:bodyPr wrap="square" lIns="0" tIns="0" rIns="0" bIns="0" rtlCol="0" anchor="t"/>
          <a:lstStyle/>
          <a:p>
            <a:pPr indent="0" marL="0">
              <a:buNone/>
            </a:pPr>
            <a:r>
              <a:rPr lang="en-US" sz="1100" dirty="0">
                <a:solidFill>
                  <a:srgbClr val="1B1B1B"/>
                </a:solidFill>
                <a:latin typeface="Calibri" pitchFamily="34" charset="0"/>
                <a:ea typeface="Calibri" pitchFamily="34" charset="-122"/>
                <a:cs typeface="Calibri" pitchFamily="34" charset="-120"/>
              </a:rPr>
              <a:t>Une instance dédiée « backup », idéalement dans un resource group séparé (autre région possible).</a:t>
            </a:r>
            <a:endParaRPr lang="en-US" sz="1100" dirty="0"/>
          </a:p>
        </p:txBody>
      </p:sp>
      <p:sp>
        <p:nvSpPr>
          <p:cNvPr id="9" name="Shape 7"/>
          <p:cNvSpPr/>
          <p:nvPr/>
        </p:nvSpPr>
        <p:spPr>
          <a:xfrm>
            <a:off x="3246120" y="1280160"/>
            <a:ext cx="640080" cy="640080"/>
          </a:xfrm>
          <a:prstGeom prst="ellipse">
            <a:avLst/>
          </a:prstGeom>
          <a:solidFill>
            <a:srgbClr val="00915A"/>
          </a:solidFill>
          <a:ln w="12700">
            <a:solidFill>
              <a:srgbClr val="00915A"/>
            </a:solidFill>
            <a:prstDash val="solid"/>
          </a:ln>
        </p:spPr>
      </p:sp>
      <p:sp>
        <p:nvSpPr>
          <p:cNvPr id="10" name="Text 8"/>
          <p:cNvSpPr txBox="1"/>
          <p:nvPr/>
        </p:nvSpPr>
        <p:spPr>
          <a:xfrm>
            <a:off x="3246120" y="12801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Shape 9"/>
          <p:cNvSpPr/>
          <p:nvPr/>
        </p:nvSpPr>
        <p:spPr>
          <a:xfrm>
            <a:off x="3931920" y="1600200"/>
            <a:ext cx="731520" cy="0"/>
          </a:xfrm>
          <a:prstGeom prst="line">
            <a:avLst/>
          </a:prstGeom>
          <a:noFill/>
          <a:ln w="25400">
            <a:solidFill>
              <a:srgbClr val="C9D6CF"/>
            </a:solidFill>
            <a:prstDash val="dash"/>
          </a:ln>
        </p:spPr>
      </p:sp>
      <p:sp>
        <p:nvSpPr>
          <p:cNvPr id="12" name="Shape 10"/>
          <p:cNvSpPr/>
          <p:nvPr/>
        </p:nvSpPr>
        <p:spPr>
          <a:xfrm>
            <a:off x="2560320" y="2148840"/>
            <a:ext cx="1965960" cy="2286000"/>
          </a:xfrm>
          <a:prstGeom prst="roundRect">
            <a:avLst>
              <a:gd name="adj" fmla="val 4651"/>
            </a:avLst>
          </a:prstGeom>
          <a:solidFill>
            <a:srgbClr val="E6F4EC"/>
          </a:solidFill>
          <a:ln w="12700">
            <a:solidFill>
              <a:srgbClr val="E6F4EC"/>
            </a:solidFill>
            <a:prstDash val="solid"/>
          </a:ln>
        </p:spPr>
      </p:sp>
      <p:sp>
        <p:nvSpPr>
          <p:cNvPr id="13" name="Text 11"/>
          <p:cNvSpPr txBox="1"/>
          <p:nvPr/>
        </p:nvSpPr>
        <p:spPr>
          <a:xfrm>
            <a:off x="2743200" y="2286000"/>
            <a:ext cx="1645920" cy="411480"/>
          </a:xfrm>
          <a:prstGeom prst="rect">
            <a:avLst/>
          </a:prstGeom>
          <a:noFill/>
          <a:ln/>
        </p:spPr>
        <p:txBody>
          <a:bodyPr wrap="square" lIns="0" tIns="0" rIns="0" bIns="0" rtlCol="0" anchor="ctr"/>
          <a:lstStyle/>
          <a:p>
            <a:pPr indent="0" marL="0">
              <a:buNone/>
            </a:pPr>
            <a:r>
              <a:rPr lang="en-US" sz="1500" b="1" dirty="0">
                <a:solidFill>
                  <a:srgbClr val="0B3D2E"/>
                </a:solidFill>
                <a:latin typeface="Cambria" pitchFamily="34" charset="0"/>
                <a:ea typeface="Cambria" pitchFamily="34" charset="-122"/>
                <a:cs typeface="Cambria" pitchFamily="34" charset="-120"/>
              </a:rPr>
              <a:t>Créer le vault</a:t>
            </a:r>
            <a:endParaRPr lang="en-US" sz="1500" dirty="0"/>
          </a:p>
        </p:txBody>
      </p:sp>
      <p:sp>
        <p:nvSpPr>
          <p:cNvPr id="14" name="Text 12"/>
          <p:cNvSpPr txBox="1"/>
          <p:nvPr/>
        </p:nvSpPr>
        <p:spPr>
          <a:xfrm>
            <a:off x="2743200" y="2697480"/>
            <a:ext cx="1645920" cy="1645920"/>
          </a:xfrm>
          <a:prstGeom prst="rect">
            <a:avLst/>
          </a:prstGeom>
          <a:noFill/>
          <a:ln/>
        </p:spPr>
        <p:txBody>
          <a:bodyPr wrap="square" lIns="0" tIns="0" rIns="0" bIns="0" rtlCol="0" anchor="t"/>
          <a:lstStyle/>
          <a:p>
            <a:pPr indent="0" marL="0">
              <a:buNone/>
            </a:pPr>
            <a:r>
              <a:rPr lang="en-US" sz="1100" dirty="0">
                <a:solidFill>
                  <a:srgbClr val="1B1B1B"/>
                </a:solidFill>
                <a:latin typeface="Calibri" pitchFamily="34" charset="0"/>
                <a:ea typeface="Calibri" pitchFamily="34" charset="-122"/>
                <a:cs typeface="Calibri" pitchFamily="34" charset="-120"/>
              </a:rPr>
              <a:t>Via Swagger, la Marketplace ou la Toolchain. Rétention fixée à la création, extensible ensuite.</a:t>
            </a:r>
            <a:endParaRPr lang="en-US" sz="1100" dirty="0"/>
          </a:p>
        </p:txBody>
      </p:sp>
      <p:sp>
        <p:nvSpPr>
          <p:cNvPr id="15" name="Shape 13"/>
          <p:cNvSpPr/>
          <p:nvPr/>
        </p:nvSpPr>
        <p:spPr>
          <a:xfrm>
            <a:off x="5349240" y="1280160"/>
            <a:ext cx="640080" cy="640080"/>
          </a:xfrm>
          <a:prstGeom prst="ellipse">
            <a:avLst/>
          </a:prstGeom>
          <a:solidFill>
            <a:srgbClr val="00915A"/>
          </a:solidFill>
          <a:ln w="12700">
            <a:solidFill>
              <a:srgbClr val="00915A"/>
            </a:solidFill>
            <a:prstDash val="solid"/>
          </a:ln>
        </p:spPr>
      </p:sp>
      <p:sp>
        <p:nvSpPr>
          <p:cNvPr id="16" name="Text 14"/>
          <p:cNvSpPr txBox="1"/>
          <p:nvPr/>
        </p:nvSpPr>
        <p:spPr>
          <a:xfrm>
            <a:off x="5349240" y="12801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Shape 15"/>
          <p:cNvSpPr/>
          <p:nvPr/>
        </p:nvSpPr>
        <p:spPr>
          <a:xfrm>
            <a:off x="6035040" y="1600200"/>
            <a:ext cx="731520" cy="0"/>
          </a:xfrm>
          <a:prstGeom prst="line">
            <a:avLst/>
          </a:prstGeom>
          <a:noFill/>
          <a:ln w="25400">
            <a:solidFill>
              <a:srgbClr val="C9D6CF"/>
            </a:solidFill>
            <a:prstDash val="dash"/>
          </a:ln>
        </p:spPr>
      </p:sp>
      <p:sp>
        <p:nvSpPr>
          <p:cNvPr id="18" name="Shape 16"/>
          <p:cNvSpPr/>
          <p:nvPr/>
        </p:nvSpPr>
        <p:spPr>
          <a:xfrm>
            <a:off x="4663440" y="2148840"/>
            <a:ext cx="1965960" cy="2286000"/>
          </a:xfrm>
          <a:prstGeom prst="roundRect">
            <a:avLst>
              <a:gd name="adj" fmla="val 4651"/>
            </a:avLst>
          </a:prstGeom>
          <a:solidFill>
            <a:srgbClr val="E6F4EC"/>
          </a:solidFill>
          <a:ln w="12700">
            <a:solidFill>
              <a:srgbClr val="E6F4EC"/>
            </a:solidFill>
            <a:prstDash val="solid"/>
          </a:ln>
        </p:spPr>
      </p:sp>
      <p:sp>
        <p:nvSpPr>
          <p:cNvPr id="19" name="Text 17"/>
          <p:cNvSpPr txBox="1"/>
          <p:nvPr/>
        </p:nvSpPr>
        <p:spPr>
          <a:xfrm>
            <a:off x="4846320" y="2286000"/>
            <a:ext cx="1645920" cy="411480"/>
          </a:xfrm>
          <a:prstGeom prst="rect">
            <a:avLst/>
          </a:prstGeom>
          <a:noFill/>
          <a:ln/>
        </p:spPr>
        <p:txBody>
          <a:bodyPr wrap="square" lIns="0" tIns="0" rIns="0" bIns="0" rtlCol="0" anchor="ctr"/>
          <a:lstStyle/>
          <a:p>
            <a:pPr indent="0" marL="0">
              <a:buNone/>
            </a:pPr>
            <a:r>
              <a:rPr lang="en-US" sz="1500" b="1" dirty="0">
                <a:solidFill>
                  <a:srgbClr val="0B3D2E"/>
                </a:solidFill>
                <a:latin typeface="Cambria" pitchFamily="34" charset="0"/>
                <a:ea typeface="Cambria" pitchFamily="34" charset="-122"/>
                <a:cs typeface="Cambria" pitchFamily="34" charset="-120"/>
              </a:rPr>
              <a:t>Autorisation S2S</a:t>
            </a:r>
            <a:endParaRPr lang="en-US" sz="1500" dirty="0"/>
          </a:p>
        </p:txBody>
      </p:sp>
      <p:sp>
        <p:nvSpPr>
          <p:cNvPr id="20" name="Text 18"/>
          <p:cNvSpPr txBox="1"/>
          <p:nvPr/>
        </p:nvSpPr>
        <p:spPr>
          <a:xfrm>
            <a:off x="4846320" y="2697480"/>
            <a:ext cx="1645920" cy="1645920"/>
          </a:xfrm>
          <a:prstGeom prst="rect">
            <a:avLst/>
          </a:prstGeom>
          <a:noFill/>
          <a:ln/>
        </p:spPr>
        <p:txBody>
          <a:bodyPr wrap="square" lIns="0" tIns="0" rIns="0" bIns="0" rtlCol="0" anchor="t"/>
          <a:lstStyle/>
          <a:p>
            <a:pPr indent="0" marL="0">
              <a:buNone/>
            </a:pPr>
            <a:r>
              <a:rPr lang="en-US" sz="1100" dirty="0">
                <a:solidFill>
                  <a:srgbClr val="1B1B1B"/>
                </a:solidFill>
                <a:latin typeface="Calibri" pitchFamily="34" charset="0"/>
                <a:ea typeface="Calibri" pitchFamily="34" charset="-122"/>
                <a:cs typeface="Calibri" pitchFamily="34" charset="-120"/>
              </a:rPr>
              <a:t>bucket → vault (Backup Manager) et vault → bucket cible (Writer). Requise même dans la même instance.</a:t>
            </a:r>
            <a:endParaRPr lang="en-US" sz="1100" dirty="0"/>
          </a:p>
        </p:txBody>
      </p:sp>
      <p:sp>
        <p:nvSpPr>
          <p:cNvPr id="21" name="Shape 19"/>
          <p:cNvSpPr/>
          <p:nvPr/>
        </p:nvSpPr>
        <p:spPr>
          <a:xfrm>
            <a:off x="7452360" y="1280160"/>
            <a:ext cx="640080" cy="640080"/>
          </a:xfrm>
          <a:prstGeom prst="ellipse">
            <a:avLst/>
          </a:prstGeom>
          <a:solidFill>
            <a:srgbClr val="00915A"/>
          </a:solidFill>
          <a:ln w="12700">
            <a:solidFill>
              <a:srgbClr val="00915A"/>
            </a:solidFill>
            <a:prstDash val="solid"/>
          </a:ln>
        </p:spPr>
      </p:sp>
      <p:sp>
        <p:nvSpPr>
          <p:cNvPr id="22" name="Text 20"/>
          <p:cNvSpPr txBox="1"/>
          <p:nvPr/>
        </p:nvSpPr>
        <p:spPr>
          <a:xfrm>
            <a:off x="7452360" y="12801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3" name="Shape 21"/>
          <p:cNvSpPr/>
          <p:nvPr/>
        </p:nvSpPr>
        <p:spPr>
          <a:xfrm>
            <a:off x="6766560" y="2148840"/>
            <a:ext cx="1965960" cy="2286000"/>
          </a:xfrm>
          <a:prstGeom prst="roundRect">
            <a:avLst>
              <a:gd name="adj" fmla="val 4651"/>
            </a:avLst>
          </a:prstGeom>
          <a:solidFill>
            <a:srgbClr val="E6F4EC"/>
          </a:solidFill>
          <a:ln w="12700">
            <a:solidFill>
              <a:srgbClr val="E6F4EC"/>
            </a:solidFill>
            <a:prstDash val="solid"/>
          </a:ln>
        </p:spPr>
      </p:sp>
      <p:sp>
        <p:nvSpPr>
          <p:cNvPr id="24" name="Text 22"/>
          <p:cNvSpPr txBox="1"/>
          <p:nvPr/>
        </p:nvSpPr>
        <p:spPr>
          <a:xfrm>
            <a:off x="6949440" y="2286000"/>
            <a:ext cx="1645920" cy="411480"/>
          </a:xfrm>
          <a:prstGeom prst="rect">
            <a:avLst/>
          </a:prstGeom>
          <a:noFill/>
          <a:ln/>
        </p:spPr>
        <p:txBody>
          <a:bodyPr wrap="square" lIns="0" tIns="0" rIns="0" bIns="0" rtlCol="0" anchor="ctr"/>
          <a:lstStyle/>
          <a:p>
            <a:pPr indent="0" marL="0">
              <a:buNone/>
            </a:pPr>
            <a:r>
              <a:rPr lang="en-US" sz="1500" b="1" dirty="0">
                <a:solidFill>
                  <a:srgbClr val="0B3D2E"/>
                </a:solidFill>
                <a:latin typeface="Cambria" pitchFamily="34" charset="0"/>
                <a:ea typeface="Cambria" pitchFamily="34" charset="-122"/>
                <a:cs typeface="Cambria" pitchFamily="34" charset="-120"/>
              </a:rPr>
              <a:t>Backup policy</a:t>
            </a:r>
            <a:endParaRPr lang="en-US" sz="1500" dirty="0"/>
          </a:p>
        </p:txBody>
      </p:sp>
      <p:sp>
        <p:nvSpPr>
          <p:cNvPr id="25" name="Text 23"/>
          <p:cNvSpPr txBox="1"/>
          <p:nvPr/>
        </p:nvSpPr>
        <p:spPr>
          <a:xfrm>
            <a:off x="6949440" y="2697480"/>
            <a:ext cx="1645920" cy="1645920"/>
          </a:xfrm>
          <a:prstGeom prst="rect">
            <a:avLst/>
          </a:prstGeom>
          <a:noFill/>
          <a:ln/>
        </p:spPr>
        <p:txBody>
          <a:bodyPr wrap="square" lIns="0" tIns="0" rIns="0" bIns="0" rtlCol="0" anchor="t"/>
          <a:lstStyle/>
          <a:p>
            <a:pPr indent="0" marL="0">
              <a:buNone/>
            </a:pPr>
            <a:r>
              <a:rPr lang="en-US" sz="1100" dirty="0">
                <a:solidFill>
                  <a:srgbClr val="1B1B1B"/>
                </a:solidFill>
                <a:latin typeface="Calibri" pitchFamily="34" charset="0"/>
                <a:ea typeface="Calibri" pitchFamily="34" charset="-122"/>
                <a:cs typeface="Calibri" pitchFamily="34" charset="-120"/>
              </a:rPr>
              <a:t>Attachée au bucket source (versionné). Synchro initiale complète puis continue. Max 3 policies / bucket.</a:t>
            </a:r>
            <a:endParaRPr lang="en-US" sz="1100" dirty="0"/>
          </a:p>
        </p:txBody>
      </p:sp>
      <p:sp>
        <p:nvSpPr>
          <p:cNvPr id="26" name="Text 24"/>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900" dirty="0">
                <a:solidFill>
                  <a:srgbClr val="5F6B66"/>
                </a:solidFill>
                <a:latin typeface="Calibri" pitchFamily="34" charset="0"/>
                <a:ea typeface="Calibri" pitchFamily="34" charset="-122"/>
                <a:cs typeface="Calibri" pitchFamily="34" charset="-120"/>
              </a:rPr>
              <a:t>COS Backup Vault  ·  4/8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0B3D2E"/>
                </a:solidFill>
                <a:latin typeface="Cambria" pitchFamily="34" charset="0"/>
                <a:ea typeface="Cambria" pitchFamily="34" charset="-122"/>
                <a:cs typeface="Cambria" pitchFamily="34" charset="-120"/>
              </a:rPr>
              <a:t>Restaurer</a:t>
            </a:r>
            <a:endParaRPr lang="en-US" sz="3000" dirty="0"/>
          </a:p>
        </p:txBody>
      </p:sp>
      <p:sp>
        <p:nvSpPr>
          <p:cNvPr id="3" name="Shape 1"/>
          <p:cNvSpPr/>
          <p:nvPr/>
        </p:nvSpPr>
        <p:spPr>
          <a:xfrm>
            <a:off x="457200" y="1234440"/>
            <a:ext cx="1965960" cy="2240280"/>
          </a:xfrm>
          <a:prstGeom prst="roundRect">
            <a:avLst>
              <a:gd name="adj" fmla="val 4651"/>
            </a:avLst>
          </a:prstGeom>
          <a:solidFill>
            <a:srgbClr val="0B3D2E"/>
          </a:solidFill>
          <a:ln w="12700">
            <a:solidFill>
              <a:srgbClr val="0B3D2E"/>
            </a:solidFill>
            <a:prstDash val="solid"/>
          </a:ln>
        </p:spPr>
      </p:sp>
      <p:pic>
        <p:nvPicPr>
          <p:cNvPr id="4" name="Image 0" descr="preencoded.png">    </p:cNvPr>
          <p:cNvPicPr>
            <a:picLocks noChangeAspect="1"/>
          </p:cNvPicPr>
          <p:nvPr/>
        </p:nvPicPr>
        <p:blipFill>
          <a:blip r:embed="rId1"/>
          <a:stretch>
            <a:fillRect/>
          </a:stretch>
        </p:blipFill>
        <p:spPr>
          <a:xfrm>
            <a:off x="640080" y="1417320"/>
            <a:ext cx="365760" cy="365760"/>
          </a:xfrm>
          <a:prstGeom prst="rect">
            <a:avLst/>
          </a:prstGeom>
        </p:spPr>
      </p:pic>
      <p:sp>
        <p:nvSpPr>
          <p:cNvPr id="5" name="Text 2"/>
          <p:cNvSpPr txBox="1"/>
          <p:nvPr/>
        </p:nvSpPr>
        <p:spPr>
          <a:xfrm>
            <a:off x="640080" y="1874520"/>
            <a:ext cx="1645920" cy="41148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Fetch recovery ranges</a:t>
            </a:r>
            <a:endParaRPr lang="en-US" sz="1400" dirty="0"/>
          </a:p>
        </p:txBody>
      </p:sp>
      <p:sp>
        <p:nvSpPr>
          <p:cNvPr id="6" name="Text 3"/>
          <p:cNvSpPr txBox="1"/>
          <p:nvPr/>
        </p:nvSpPr>
        <p:spPr>
          <a:xfrm>
            <a:off x="640080" y="2286000"/>
            <a:ext cx="1645920" cy="1097280"/>
          </a:xfrm>
          <a:prstGeom prst="rect">
            <a:avLst/>
          </a:prstGeom>
          <a:noFill/>
          <a:ln/>
        </p:spPr>
        <p:txBody>
          <a:bodyPr wrap="square" lIns="0" tIns="0" rIns="0" bIns="0" rtlCol="0" anchor="t"/>
          <a:lstStyle/>
          <a:p>
            <a:pPr indent="0" marL="0">
              <a:buNone/>
            </a:pPr>
            <a:r>
              <a:rPr lang="en-US" sz="1050" dirty="0">
                <a:solidFill>
                  <a:srgbClr val="CFE8DA"/>
                </a:solidFill>
                <a:latin typeface="Calibri" pitchFamily="34" charset="0"/>
                <a:ea typeface="Calibri" pitchFamily="34" charset="-122"/>
                <a:cs typeface="Calibri" pitchFamily="34" charset="-120"/>
              </a:rPr>
              <a:t>GET /recovery_ranges</a:t>
            </a:r>
            <a:endParaRPr lang="en-US" sz="1050" dirty="0"/>
          </a:p>
          <a:p>
            <a:pPr indent="0" marL="0">
              <a:buNone/>
            </a:pPr>
            <a:r>
              <a:rPr lang="en-US" sz="1050" dirty="0">
                <a:solidFill>
                  <a:srgbClr val="CFE8DA"/>
                </a:solidFill>
                <a:latin typeface="Calibri" pitchFamily="34" charset="0"/>
                <a:ea typeface="Calibri" pitchFamily="34" charset="-122"/>
                <a:cs typeface="Calibri" pitchFamily="34" charset="-120"/>
              </a:rPr>
              <a:t>start → end du range</a:t>
            </a:r>
            <a:endParaRPr lang="en-US" sz="1050" dirty="0"/>
          </a:p>
          <a:p>
            <a:pPr indent="0" marL="0">
              <a:buNone/>
            </a:pPr>
            <a:r>
              <a:rPr lang="en-US" sz="1050" dirty="0">
                <a:solidFill>
                  <a:srgbClr val="CFE8DA"/>
                </a:solidFill>
                <a:latin typeface="Calibri" pitchFamily="34" charset="0"/>
                <a:ea typeface="Calibri" pitchFamily="34" charset="-122"/>
                <a:cs typeface="Calibri" pitchFamily="34" charset="-120"/>
              </a:rPr>
              <a:t>(fenêtre restaurable)</a:t>
            </a:r>
            <a:endParaRPr lang="en-US" sz="1050" dirty="0"/>
          </a:p>
        </p:txBody>
      </p:sp>
      <p:sp>
        <p:nvSpPr>
          <p:cNvPr id="7" name="Shape 4"/>
          <p:cNvSpPr/>
          <p:nvPr/>
        </p:nvSpPr>
        <p:spPr>
          <a:xfrm>
            <a:off x="2441448" y="2212848"/>
            <a:ext cx="109728" cy="274320"/>
          </a:xfrm>
          <a:prstGeom prst="rightArrow">
            <a:avLst/>
          </a:prstGeom>
          <a:solidFill>
            <a:srgbClr val="00915A"/>
          </a:solidFill>
          <a:ln w="12700">
            <a:solidFill>
              <a:srgbClr val="00915A"/>
            </a:solidFill>
            <a:prstDash val="solid"/>
          </a:ln>
        </p:spPr>
      </p:sp>
      <p:sp>
        <p:nvSpPr>
          <p:cNvPr id="8" name="Shape 5"/>
          <p:cNvSpPr/>
          <p:nvPr/>
        </p:nvSpPr>
        <p:spPr>
          <a:xfrm>
            <a:off x="2560320" y="1234440"/>
            <a:ext cx="1965960" cy="2240280"/>
          </a:xfrm>
          <a:prstGeom prst="roundRect">
            <a:avLst>
              <a:gd name="adj" fmla="val 4651"/>
            </a:avLst>
          </a:prstGeom>
          <a:solidFill>
            <a:srgbClr val="0B3D2E"/>
          </a:solidFill>
          <a:ln w="12700">
            <a:solidFill>
              <a:srgbClr val="0B3D2E"/>
            </a:solidFill>
            <a:prstDash val="solid"/>
          </a:ln>
        </p:spPr>
      </p:sp>
      <p:pic>
        <p:nvPicPr>
          <p:cNvPr id="9" name="Image 1" descr="preencoded.png">    </p:cNvPr>
          <p:cNvPicPr>
            <a:picLocks noChangeAspect="1"/>
          </p:cNvPicPr>
          <p:nvPr/>
        </p:nvPicPr>
        <p:blipFill>
          <a:blip r:embed="rId2"/>
          <a:stretch>
            <a:fillRect/>
          </a:stretch>
        </p:blipFill>
        <p:spPr>
          <a:xfrm>
            <a:off x="2743200" y="1417320"/>
            <a:ext cx="365760" cy="365760"/>
          </a:xfrm>
          <a:prstGeom prst="rect">
            <a:avLst/>
          </a:prstGeom>
        </p:spPr>
      </p:pic>
      <p:sp>
        <p:nvSpPr>
          <p:cNvPr id="10" name="Text 6"/>
          <p:cNvSpPr txBox="1"/>
          <p:nvPr/>
        </p:nvSpPr>
        <p:spPr>
          <a:xfrm>
            <a:off x="2743200" y="1874520"/>
            <a:ext cx="1645920" cy="41148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Choisir l'instant T</a:t>
            </a:r>
            <a:endParaRPr lang="en-US" sz="1400" dirty="0"/>
          </a:p>
        </p:txBody>
      </p:sp>
      <p:sp>
        <p:nvSpPr>
          <p:cNvPr id="11" name="Text 7"/>
          <p:cNvSpPr txBox="1"/>
          <p:nvPr/>
        </p:nvSpPr>
        <p:spPr>
          <a:xfrm>
            <a:off x="2743200" y="2286000"/>
            <a:ext cx="1645920" cy="1097280"/>
          </a:xfrm>
          <a:prstGeom prst="rect">
            <a:avLst/>
          </a:prstGeom>
          <a:noFill/>
          <a:ln/>
        </p:spPr>
        <p:txBody>
          <a:bodyPr wrap="square" lIns="0" tIns="0" rIns="0" bIns="0" rtlCol="0" anchor="t"/>
          <a:lstStyle/>
          <a:p>
            <a:pPr indent="0" marL="0">
              <a:buNone/>
            </a:pPr>
            <a:r>
              <a:rPr lang="en-US" sz="1050" dirty="0">
                <a:solidFill>
                  <a:srgbClr val="CFE8DA"/>
                </a:solidFill>
                <a:latin typeface="Calibri" pitchFamily="34" charset="0"/>
                <a:ea typeface="Calibri" pitchFamily="34" charset="-122"/>
                <a:cs typeface="Calibri" pitchFamily="34" charset="-120"/>
              </a:rPr>
              <a:t>Obligatoire, entre start et end.</a:t>
            </a:r>
            <a:endParaRPr lang="en-US" sz="1050" dirty="0"/>
          </a:p>
          <a:p>
            <a:pPr indent="0" marL="0">
              <a:buNone/>
            </a:pPr>
            <a:r>
              <a:rPr lang="en-US" sz="1050" dirty="0">
                <a:solidFill>
                  <a:srgbClr val="CFE8DA"/>
                </a:solidFill>
                <a:latin typeface="Calibri" pitchFamily="34" charset="0"/>
                <a:ea typeface="Calibri" pitchFamily="34" charset="-122"/>
                <a:cs typeface="Calibri" pitchFamily="34" charset="-120"/>
              </a:rPr>
              <a:t>Avant l'incident, ou end − 5 min</a:t>
            </a:r>
            <a:endParaRPr lang="en-US" sz="1050" dirty="0"/>
          </a:p>
          <a:p>
            <a:pPr indent="0" marL="0">
              <a:buNone/>
            </a:pPr>
            <a:r>
              <a:rPr lang="en-US" sz="1050" dirty="0">
                <a:solidFill>
                  <a:srgbClr val="CFE8DA"/>
                </a:solidFill>
                <a:latin typeface="Calibri" pitchFamily="34" charset="0"/>
                <a:ea typeface="Calibri" pitchFamily="34" charset="-122"/>
                <a:cs typeface="Calibri" pitchFamily="34" charset="-120"/>
              </a:rPr>
              <a:t>pour « le plus récent ».</a:t>
            </a:r>
            <a:endParaRPr lang="en-US" sz="1050" dirty="0"/>
          </a:p>
        </p:txBody>
      </p:sp>
      <p:sp>
        <p:nvSpPr>
          <p:cNvPr id="12" name="Shape 8"/>
          <p:cNvSpPr/>
          <p:nvPr/>
        </p:nvSpPr>
        <p:spPr>
          <a:xfrm>
            <a:off x="4544568" y="2212848"/>
            <a:ext cx="109728" cy="274320"/>
          </a:xfrm>
          <a:prstGeom prst="rightArrow">
            <a:avLst/>
          </a:prstGeom>
          <a:solidFill>
            <a:srgbClr val="00915A"/>
          </a:solidFill>
          <a:ln w="12700">
            <a:solidFill>
              <a:srgbClr val="00915A"/>
            </a:solidFill>
            <a:prstDash val="solid"/>
          </a:ln>
        </p:spPr>
      </p:sp>
      <p:sp>
        <p:nvSpPr>
          <p:cNvPr id="13" name="Shape 9"/>
          <p:cNvSpPr/>
          <p:nvPr/>
        </p:nvSpPr>
        <p:spPr>
          <a:xfrm>
            <a:off x="4663440" y="1234440"/>
            <a:ext cx="1965960" cy="2240280"/>
          </a:xfrm>
          <a:prstGeom prst="roundRect">
            <a:avLst>
              <a:gd name="adj" fmla="val 4651"/>
            </a:avLst>
          </a:prstGeom>
          <a:solidFill>
            <a:srgbClr val="0B3D2E"/>
          </a:solidFill>
          <a:ln w="12700">
            <a:solidFill>
              <a:srgbClr val="0B3D2E"/>
            </a:solidFill>
            <a:prstDash val="solid"/>
          </a:ln>
        </p:spPr>
      </p:sp>
      <p:pic>
        <p:nvPicPr>
          <p:cNvPr id="14" name="Image 2" descr="preencoded.png">    </p:cNvPr>
          <p:cNvPicPr>
            <a:picLocks noChangeAspect="1"/>
          </p:cNvPicPr>
          <p:nvPr/>
        </p:nvPicPr>
        <p:blipFill>
          <a:blip r:embed="rId3"/>
          <a:stretch>
            <a:fillRect/>
          </a:stretch>
        </p:blipFill>
        <p:spPr>
          <a:xfrm>
            <a:off x="4846320" y="1417320"/>
            <a:ext cx="365760" cy="365760"/>
          </a:xfrm>
          <a:prstGeom prst="rect">
            <a:avLst/>
          </a:prstGeom>
        </p:spPr>
      </p:pic>
      <p:sp>
        <p:nvSpPr>
          <p:cNvPr id="15" name="Text 10"/>
          <p:cNvSpPr txBox="1"/>
          <p:nvPr/>
        </p:nvSpPr>
        <p:spPr>
          <a:xfrm>
            <a:off x="4846320" y="1874520"/>
            <a:ext cx="1645920" cy="41148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Initier le restore</a:t>
            </a:r>
            <a:endParaRPr lang="en-US" sz="1400" dirty="0"/>
          </a:p>
        </p:txBody>
      </p:sp>
      <p:sp>
        <p:nvSpPr>
          <p:cNvPr id="16" name="Text 11"/>
          <p:cNvSpPr txBox="1"/>
          <p:nvPr/>
        </p:nvSpPr>
        <p:spPr>
          <a:xfrm>
            <a:off x="4846320" y="2286000"/>
            <a:ext cx="1645920" cy="1097280"/>
          </a:xfrm>
          <a:prstGeom prst="rect">
            <a:avLst/>
          </a:prstGeom>
          <a:noFill/>
          <a:ln/>
        </p:spPr>
        <p:txBody>
          <a:bodyPr wrap="square" lIns="0" tIns="0" rIns="0" bIns="0" rtlCol="0" anchor="t"/>
          <a:lstStyle/>
          <a:p>
            <a:pPr indent="0" marL="0">
              <a:buNone/>
            </a:pPr>
            <a:r>
              <a:rPr lang="en-US" sz="1050" dirty="0">
                <a:solidFill>
                  <a:srgbClr val="CFE8DA"/>
                </a:solidFill>
                <a:latin typeface="Calibri" pitchFamily="34" charset="0"/>
                <a:ea typeface="Calibri" pitchFamily="34" charset="-122"/>
                <a:cs typeface="Calibri" pitchFamily="34" charset="-120"/>
              </a:rPr>
              <a:t>POST /restores</a:t>
            </a:r>
            <a:endParaRPr lang="en-US" sz="1050" dirty="0"/>
          </a:p>
          <a:p>
            <a:pPr indent="0" marL="0">
              <a:buNone/>
            </a:pPr>
            <a:r>
              <a:rPr lang="en-US" sz="1050" dirty="0">
                <a:solidFill>
                  <a:srgbClr val="CFE8DA"/>
                </a:solidFill>
                <a:latin typeface="Calibri" pitchFamily="34" charset="0"/>
                <a:ea typeface="Calibri" pitchFamily="34" charset="-122"/>
                <a:cs typeface="Calibri" pitchFamily="34" charset="-120"/>
              </a:rPr>
              <a:t>range_id + T + in_place</a:t>
            </a:r>
            <a:endParaRPr lang="en-US" sz="1050" dirty="0"/>
          </a:p>
          <a:p>
            <a:pPr indent="0" marL="0">
              <a:buNone/>
            </a:pPr>
            <a:r>
              <a:rPr lang="en-US" sz="1050" dirty="0">
                <a:solidFill>
                  <a:srgbClr val="CFE8DA"/>
                </a:solidFill>
                <a:latin typeface="Calibri" pitchFamily="34" charset="0"/>
                <a:ea typeface="Calibri" pitchFamily="34" charset="-122"/>
                <a:cs typeface="Calibri" pitchFamily="34" charset="-120"/>
              </a:rPr>
              <a:t>+ CRN du bucket cible</a:t>
            </a:r>
            <a:endParaRPr lang="en-US" sz="1050" dirty="0"/>
          </a:p>
        </p:txBody>
      </p:sp>
      <p:sp>
        <p:nvSpPr>
          <p:cNvPr id="17" name="Shape 12"/>
          <p:cNvSpPr/>
          <p:nvPr/>
        </p:nvSpPr>
        <p:spPr>
          <a:xfrm>
            <a:off x="6647688" y="2212848"/>
            <a:ext cx="109728" cy="274320"/>
          </a:xfrm>
          <a:prstGeom prst="rightArrow">
            <a:avLst/>
          </a:prstGeom>
          <a:solidFill>
            <a:srgbClr val="00915A"/>
          </a:solidFill>
          <a:ln w="12700">
            <a:solidFill>
              <a:srgbClr val="00915A"/>
            </a:solidFill>
            <a:prstDash val="solid"/>
          </a:ln>
        </p:spPr>
      </p:sp>
      <p:sp>
        <p:nvSpPr>
          <p:cNvPr id="18" name="Shape 13"/>
          <p:cNvSpPr/>
          <p:nvPr/>
        </p:nvSpPr>
        <p:spPr>
          <a:xfrm>
            <a:off x="6766560" y="1234440"/>
            <a:ext cx="1965960" cy="2240280"/>
          </a:xfrm>
          <a:prstGeom prst="roundRect">
            <a:avLst>
              <a:gd name="adj" fmla="val 4651"/>
            </a:avLst>
          </a:prstGeom>
          <a:solidFill>
            <a:srgbClr val="0B3D2E"/>
          </a:solidFill>
          <a:ln w="12700">
            <a:solidFill>
              <a:srgbClr val="0B3D2E"/>
            </a:solidFill>
            <a:prstDash val="solid"/>
          </a:ln>
        </p:spPr>
      </p:sp>
      <p:pic>
        <p:nvPicPr>
          <p:cNvPr id="19" name="Image 3" descr="preencoded.png">    </p:cNvPr>
          <p:cNvPicPr>
            <a:picLocks noChangeAspect="1"/>
          </p:cNvPicPr>
          <p:nvPr/>
        </p:nvPicPr>
        <p:blipFill>
          <a:blip r:embed="rId4"/>
          <a:stretch>
            <a:fillRect/>
          </a:stretch>
        </p:blipFill>
        <p:spPr>
          <a:xfrm>
            <a:off x="6949440" y="1417320"/>
            <a:ext cx="365760" cy="365760"/>
          </a:xfrm>
          <a:prstGeom prst="rect">
            <a:avLst/>
          </a:prstGeom>
        </p:spPr>
      </p:pic>
      <p:sp>
        <p:nvSpPr>
          <p:cNvPr id="20" name="Text 14"/>
          <p:cNvSpPr txBox="1"/>
          <p:nvPr/>
        </p:nvSpPr>
        <p:spPr>
          <a:xfrm>
            <a:off x="6949440" y="1874520"/>
            <a:ext cx="1645920" cy="41148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Suivre</a:t>
            </a:r>
            <a:endParaRPr lang="en-US" sz="1400" dirty="0"/>
          </a:p>
        </p:txBody>
      </p:sp>
      <p:sp>
        <p:nvSpPr>
          <p:cNvPr id="21" name="Text 15"/>
          <p:cNvSpPr txBox="1"/>
          <p:nvPr/>
        </p:nvSpPr>
        <p:spPr>
          <a:xfrm>
            <a:off x="6949440" y="2286000"/>
            <a:ext cx="1645920" cy="1097280"/>
          </a:xfrm>
          <a:prstGeom prst="rect">
            <a:avLst/>
          </a:prstGeom>
          <a:noFill/>
          <a:ln/>
        </p:spPr>
        <p:txBody>
          <a:bodyPr wrap="square" lIns="0" tIns="0" rIns="0" bIns="0" rtlCol="0" anchor="t"/>
          <a:lstStyle/>
          <a:p>
            <a:pPr indent="0" marL="0">
              <a:buNone/>
            </a:pPr>
            <a:r>
              <a:rPr lang="en-US" sz="1050" dirty="0">
                <a:solidFill>
                  <a:srgbClr val="CFE8DA"/>
                </a:solidFill>
                <a:latin typeface="Calibri" pitchFamily="34" charset="0"/>
                <a:ea typeface="Calibri" pitchFamily="34" charset="-122"/>
                <a:cs typeface="Calibri" pitchFamily="34" charset="-120"/>
              </a:rPr>
              <a:t>GET /restores/{id}</a:t>
            </a:r>
            <a:endParaRPr lang="en-US" sz="1050" dirty="0"/>
          </a:p>
          <a:p>
            <a:pPr indent="0" marL="0">
              <a:buNone/>
            </a:pPr>
            <a:r>
              <a:rPr lang="en-US" sz="1050" dirty="0">
                <a:solidFill>
                  <a:srgbClr val="CFE8DA"/>
                </a:solidFill>
                <a:latin typeface="Calibri" pitchFamily="34" charset="0"/>
                <a:ea typeface="Calibri" pitchFamily="34" charset="-122"/>
                <a:cs typeface="Calibri" pitchFamily="34" charset="-120"/>
              </a:rPr>
              <a:t>jusqu'à complete / failed</a:t>
            </a:r>
            <a:endParaRPr lang="en-US" sz="1050" dirty="0"/>
          </a:p>
          <a:p>
            <a:pPr indent="0" marL="0">
              <a:buNone/>
            </a:pPr>
            <a:r>
              <a:rPr lang="en-US" sz="1050" dirty="0">
                <a:solidFill>
                  <a:srgbClr val="CFE8DA"/>
                </a:solidFill>
                <a:latin typeface="Calibri" pitchFamily="34" charset="0"/>
                <a:ea typeface="Calibri" pitchFamily="34" charset="-122"/>
                <a:cs typeface="Calibri" pitchFamily="34" charset="-120"/>
              </a:rPr>
              <a:t>max 3 en parallèle</a:t>
            </a:r>
            <a:endParaRPr lang="en-US" sz="1050" dirty="0"/>
          </a:p>
        </p:txBody>
      </p:sp>
      <p:sp>
        <p:nvSpPr>
          <p:cNvPr id="22" name="Shape 16"/>
          <p:cNvSpPr/>
          <p:nvPr/>
        </p:nvSpPr>
        <p:spPr>
          <a:xfrm>
            <a:off x="457200" y="3703320"/>
            <a:ext cx="8229600" cy="822960"/>
          </a:xfrm>
          <a:prstGeom prst="roundRect">
            <a:avLst>
              <a:gd name="adj" fmla="val 11111"/>
            </a:avLst>
          </a:prstGeom>
          <a:solidFill>
            <a:srgbClr val="E6F4EC"/>
          </a:solidFill>
          <a:ln w="12700">
            <a:solidFill>
              <a:srgbClr val="E6F4EC"/>
            </a:solidFill>
            <a:prstDash val="solid"/>
          </a:ln>
        </p:spPr>
      </p:sp>
      <p:sp>
        <p:nvSpPr>
          <p:cNvPr id="23" name="Text 17"/>
          <p:cNvSpPr txBox="1"/>
          <p:nvPr/>
        </p:nvSpPr>
        <p:spPr>
          <a:xfrm>
            <a:off x="640080" y="3767328"/>
            <a:ext cx="7863840" cy="713232"/>
          </a:xfrm>
          <a:prstGeom prst="rect">
            <a:avLst/>
          </a:prstGeom>
          <a:noFill/>
          <a:ln/>
        </p:spPr>
        <p:txBody>
          <a:bodyPr wrap="square" lIns="0" tIns="0" rIns="0" bIns="0" rtlCol="0" anchor="ctr"/>
          <a:lstStyle/>
          <a:p>
            <a:pPr indent="0" marL="0">
              <a:buNone/>
            </a:pPr>
            <a:r>
              <a:rPr lang="en-US" sz="1150" b="1" dirty="0">
                <a:solidFill>
                  <a:srgbClr val="0B3D2E"/>
                </a:solidFill>
                <a:latin typeface="Calibri" pitchFamily="34" charset="0"/>
                <a:ea typeface="Calibri" pitchFamily="34" charset="-122"/>
                <a:cs typeface="Calibri" pitchFamily="34" charset="-120"/>
              </a:rPr>
              <a:t>in_place = additif, jamais destructif. </a:t>
            </a:r>
            <a:pPr indent="0" marL="0">
              <a:buNone/>
            </a:pPr>
            <a:r>
              <a:rPr lang="en-US" sz="1150" dirty="0">
                <a:solidFill>
                  <a:srgbClr val="1B1B1B"/>
                </a:solidFill>
                <a:latin typeface="Calibri" pitchFamily="34" charset="0"/>
                <a:ea typeface="Calibri" pitchFamily="34" charset="-122"/>
                <a:cs typeface="Calibri" pitchFamily="34" charset="-120"/>
              </a:rPr>
              <a:t>Les versions de l'instant T sont écrites dans la cible (même versionId, ETag, LastModified) ; rien n'est supprimé. Cible : bucket versionné, même région, sans Object Lock. Restaurer dans un bucket temporaire, vérifier, puis basculer.</a:t>
            </a:r>
            <a:endParaRPr lang="en-US" sz="1150" dirty="0"/>
          </a:p>
        </p:txBody>
      </p:sp>
      <p:sp>
        <p:nvSpPr>
          <p:cNvPr id="24" name="Text 18"/>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900" dirty="0">
                <a:solidFill>
                  <a:srgbClr val="5F6B66"/>
                </a:solidFill>
                <a:latin typeface="Calibri" pitchFamily="34" charset="0"/>
                <a:ea typeface="Calibri" pitchFamily="34" charset="-122"/>
                <a:cs typeface="Calibri" pitchFamily="34" charset="-120"/>
              </a:rPr>
              <a:t>COS Backup Vault  ·  5/8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0B3D2E"/>
                </a:solidFill>
                <a:latin typeface="Cambria" pitchFamily="34" charset="0"/>
                <a:ea typeface="Cambria" pitchFamily="34" charset="-122"/>
                <a:cs typeface="Cambria" pitchFamily="34" charset="-120"/>
              </a:rPr>
              <a:t>Rétention : une fenêtre glissante</a:t>
            </a:r>
            <a:endParaRPr lang="en-US" sz="3000" dirty="0"/>
          </a:p>
        </p:txBody>
      </p:sp>
      <p:sp>
        <p:nvSpPr>
          <p:cNvPr id="3" name="Shape 1"/>
          <p:cNvSpPr/>
          <p:nvPr/>
        </p:nvSpPr>
        <p:spPr>
          <a:xfrm>
            <a:off x="731520" y="2057400"/>
            <a:ext cx="7680960" cy="0"/>
          </a:xfrm>
          <a:prstGeom prst="line">
            <a:avLst/>
          </a:prstGeom>
          <a:noFill/>
          <a:ln w="38100">
            <a:solidFill>
              <a:srgbClr val="C9D6CF"/>
            </a:solidFill>
            <a:prstDash val="solid"/>
          </a:ln>
        </p:spPr>
      </p:sp>
      <p:sp>
        <p:nvSpPr>
          <p:cNvPr id="4" name="Shape 2"/>
          <p:cNvSpPr/>
          <p:nvPr/>
        </p:nvSpPr>
        <p:spPr>
          <a:xfrm>
            <a:off x="4023360" y="1554480"/>
            <a:ext cx="4114800" cy="1005840"/>
          </a:xfrm>
          <a:prstGeom prst="rect">
            <a:avLst/>
          </a:prstGeom>
          <a:solidFill>
            <a:srgbClr val="00915A">
              <a:alpha val="15000"/>
            </a:srgbClr>
          </a:solidFill>
          <a:ln w="12700">
            <a:solidFill>
              <a:srgbClr val="00915A">
                <a:alpha val="0"/>
              </a:srgbClr>
            </a:solidFill>
            <a:prstDash val="solid"/>
          </a:ln>
        </p:spPr>
      </p:sp>
      <p:sp>
        <p:nvSpPr>
          <p:cNvPr id="5" name="Text 3"/>
          <p:cNvSpPr txBox="1"/>
          <p:nvPr/>
        </p:nvSpPr>
        <p:spPr>
          <a:xfrm>
            <a:off x="4023360" y="1600200"/>
            <a:ext cx="4114800" cy="274320"/>
          </a:xfrm>
          <a:prstGeom prst="rect">
            <a:avLst/>
          </a:prstGeom>
          <a:noFill/>
          <a:ln/>
        </p:spPr>
        <p:txBody>
          <a:bodyPr wrap="square" lIns="0" tIns="0" rIns="0" bIns="0" rtlCol="0" anchor="ctr"/>
          <a:lstStyle/>
          <a:p>
            <a:pPr algn="ctr" indent="0" marL="0">
              <a:buNone/>
            </a:pPr>
            <a:r>
              <a:rPr lang="en-US" sz="1000" dirty="0">
                <a:solidFill>
                  <a:srgbClr val="00915A"/>
                </a:solidFill>
                <a:latin typeface="Calibri" pitchFamily="34" charset="0"/>
                <a:ea typeface="Calibri" pitchFamily="34" charset="-122"/>
                <a:cs typeface="Calibri" pitchFamily="34" charset="-120"/>
              </a:rPr>
              <a:t>Fenêtre restaurable (N jours)</a:t>
            </a:r>
            <a:endParaRPr lang="en-US" sz="1000" dirty="0"/>
          </a:p>
        </p:txBody>
      </p:sp>
      <p:sp>
        <p:nvSpPr>
          <p:cNvPr id="6" name="Shape 4"/>
          <p:cNvSpPr/>
          <p:nvPr/>
        </p:nvSpPr>
        <p:spPr>
          <a:xfrm>
            <a:off x="1179576" y="1956816"/>
            <a:ext cx="201168" cy="201168"/>
          </a:xfrm>
          <a:prstGeom prst="ellipse">
            <a:avLst/>
          </a:prstGeom>
          <a:solidFill>
            <a:srgbClr val="00915A"/>
          </a:solidFill>
          <a:ln w="12700">
            <a:solidFill>
              <a:srgbClr val="00915A"/>
            </a:solidFill>
            <a:prstDash val="solid"/>
          </a:ln>
        </p:spPr>
      </p:sp>
      <p:sp>
        <p:nvSpPr>
          <p:cNvPr id="7" name="Text 5"/>
          <p:cNvSpPr txBox="1"/>
          <p:nvPr/>
        </p:nvSpPr>
        <p:spPr>
          <a:xfrm>
            <a:off x="457200" y="2377440"/>
            <a:ext cx="1645920" cy="502920"/>
          </a:xfrm>
          <a:prstGeom prst="rect">
            <a:avLst/>
          </a:prstGeom>
          <a:noFill/>
          <a:ln/>
        </p:spPr>
        <p:txBody>
          <a:bodyPr wrap="square" lIns="0" tIns="0" rIns="0" bIns="0" rtlCol="0" anchor="t"/>
          <a:lstStyle/>
          <a:p>
            <a:pPr algn="ctr" indent="0" marL="0">
              <a:buNone/>
            </a:pPr>
            <a:r>
              <a:rPr lang="en-US" sz="1050" dirty="0">
                <a:solidFill>
                  <a:srgbClr val="1B1B1B"/>
                </a:solidFill>
                <a:latin typeface="Calibri" pitchFamily="34" charset="0"/>
                <a:ea typeface="Calibri" pitchFamily="34" charset="-122"/>
                <a:cs typeface="Calibri" pitchFamily="34" charset="-120"/>
              </a:rPr>
              <a:t>Objet écrit</a:t>
            </a:r>
            <a:endParaRPr lang="en-US" sz="1050" dirty="0"/>
          </a:p>
        </p:txBody>
      </p:sp>
      <p:sp>
        <p:nvSpPr>
          <p:cNvPr id="8" name="Shape 6"/>
          <p:cNvSpPr/>
          <p:nvPr/>
        </p:nvSpPr>
        <p:spPr>
          <a:xfrm>
            <a:off x="2642616" y="1956816"/>
            <a:ext cx="201168" cy="201168"/>
          </a:xfrm>
          <a:prstGeom prst="ellipse">
            <a:avLst/>
          </a:prstGeom>
          <a:solidFill>
            <a:srgbClr val="C0392B"/>
          </a:solidFill>
          <a:ln w="12700">
            <a:solidFill>
              <a:srgbClr val="C0392B"/>
            </a:solidFill>
            <a:prstDash val="solid"/>
          </a:ln>
        </p:spPr>
      </p:sp>
      <p:sp>
        <p:nvSpPr>
          <p:cNvPr id="9" name="Text 7"/>
          <p:cNvSpPr txBox="1"/>
          <p:nvPr/>
        </p:nvSpPr>
        <p:spPr>
          <a:xfrm>
            <a:off x="1920240" y="2377440"/>
            <a:ext cx="1645920" cy="502920"/>
          </a:xfrm>
          <a:prstGeom prst="rect">
            <a:avLst/>
          </a:prstGeom>
          <a:noFill/>
          <a:ln/>
        </p:spPr>
        <p:txBody>
          <a:bodyPr wrap="square" lIns="0" tIns="0" rIns="0" bIns="0" rtlCol="0" anchor="t"/>
          <a:lstStyle/>
          <a:p>
            <a:pPr algn="ctr" indent="0" marL="0">
              <a:buNone/>
            </a:pPr>
            <a:r>
              <a:rPr lang="en-US" sz="1050" dirty="0">
                <a:solidFill>
                  <a:srgbClr val="1B1B1B"/>
                </a:solidFill>
                <a:latin typeface="Calibri" pitchFamily="34" charset="0"/>
                <a:ea typeface="Calibri" pitchFamily="34" charset="-122"/>
                <a:cs typeface="Calibri" pitchFamily="34" charset="-120"/>
              </a:rPr>
              <a:t>Objet supprimé</a:t>
            </a:r>
            <a:endParaRPr lang="en-US" sz="1050" dirty="0"/>
          </a:p>
          <a:p>
            <a:pPr algn="ctr" indent="0" marL="0">
              <a:buNone/>
            </a:pPr>
            <a:r>
              <a:rPr lang="en-US" sz="1050" dirty="0">
                <a:solidFill>
                  <a:srgbClr val="1B1B1B"/>
                </a:solidFill>
                <a:latin typeface="Calibri" pitchFamily="34" charset="0"/>
                <a:ea typeface="Calibri" pitchFamily="34" charset="-122"/>
                <a:cs typeface="Calibri" pitchFamily="34" charset="-120"/>
              </a:rPr>
              <a:t>ou écrasé (J)</a:t>
            </a:r>
            <a:endParaRPr lang="en-US" sz="1050" dirty="0"/>
          </a:p>
        </p:txBody>
      </p:sp>
      <p:sp>
        <p:nvSpPr>
          <p:cNvPr id="10" name="Shape 8"/>
          <p:cNvSpPr/>
          <p:nvPr/>
        </p:nvSpPr>
        <p:spPr>
          <a:xfrm>
            <a:off x="3922776" y="1956816"/>
            <a:ext cx="201168" cy="201168"/>
          </a:xfrm>
          <a:prstGeom prst="ellipse">
            <a:avLst/>
          </a:prstGeom>
          <a:solidFill>
            <a:srgbClr val="E0A100"/>
          </a:solidFill>
          <a:ln w="12700">
            <a:solidFill>
              <a:srgbClr val="E0A100"/>
            </a:solidFill>
            <a:prstDash val="solid"/>
          </a:ln>
        </p:spPr>
      </p:sp>
      <p:sp>
        <p:nvSpPr>
          <p:cNvPr id="11" name="Text 9"/>
          <p:cNvSpPr txBox="1"/>
          <p:nvPr/>
        </p:nvSpPr>
        <p:spPr>
          <a:xfrm>
            <a:off x="3200400" y="1005840"/>
            <a:ext cx="1645920" cy="502920"/>
          </a:xfrm>
          <a:prstGeom prst="rect">
            <a:avLst/>
          </a:prstGeom>
          <a:noFill/>
          <a:ln/>
        </p:spPr>
        <p:txBody>
          <a:bodyPr wrap="square" lIns="0" tIns="0" rIns="0" bIns="0" rtlCol="0" anchor="b"/>
          <a:lstStyle/>
          <a:p>
            <a:pPr algn="ctr" indent="0" marL="0">
              <a:buNone/>
            </a:pPr>
            <a:r>
              <a:rPr lang="en-US" sz="1050" dirty="0">
                <a:solidFill>
                  <a:srgbClr val="1B1B1B"/>
                </a:solidFill>
                <a:latin typeface="Calibri" pitchFamily="34" charset="0"/>
                <a:ea typeface="Calibri" pitchFamily="34" charset="-122"/>
                <a:cs typeface="Calibri" pitchFamily="34" charset="-120"/>
              </a:rPr>
              <a:t>Début de fenêtre</a:t>
            </a:r>
            <a:endParaRPr lang="en-US" sz="1050" dirty="0"/>
          </a:p>
          <a:p>
            <a:pPr algn="ctr" indent="0" marL="0">
              <a:buNone/>
            </a:pPr>
            <a:r>
              <a:rPr lang="en-US" sz="1050" dirty="0">
                <a:solidFill>
                  <a:srgbClr val="1B1B1B"/>
                </a:solidFill>
                <a:latin typeface="Calibri" pitchFamily="34" charset="0"/>
                <a:ea typeface="Calibri" pitchFamily="34" charset="-122"/>
                <a:cs typeface="Calibri" pitchFamily="34" charset="-120"/>
              </a:rPr>
              <a:t>(purge réelle du vault)</a:t>
            </a:r>
            <a:endParaRPr lang="en-US" sz="1050" dirty="0"/>
          </a:p>
        </p:txBody>
      </p:sp>
      <p:sp>
        <p:nvSpPr>
          <p:cNvPr id="12" name="Shape 10"/>
          <p:cNvSpPr/>
          <p:nvPr/>
        </p:nvSpPr>
        <p:spPr>
          <a:xfrm>
            <a:off x="6848856" y="1956816"/>
            <a:ext cx="201168" cy="201168"/>
          </a:xfrm>
          <a:prstGeom prst="ellipse">
            <a:avLst/>
          </a:prstGeom>
          <a:solidFill>
            <a:srgbClr val="0B3D2E"/>
          </a:solidFill>
          <a:ln w="12700">
            <a:solidFill>
              <a:srgbClr val="0B3D2E"/>
            </a:solidFill>
            <a:prstDash val="solid"/>
          </a:ln>
        </p:spPr>
      </p:sp>
      <p:sp>
        <p:nvSpPr>
          <p:cNvPr id="13" name="Text 11"/>
          <p:cNvSpPr txBox="1"/>
          <p:nvPr/>
        </p:nvSpPr>
        <p:spPr>
          <a:xfrm>
            <a:off x="6126480" y="2377440"/>
            <a:ext cx="1645920" cy="502920"/>
          </a:xfrm>
          <a:prstGeom prst="rect">
            <a:avLst/>
          </a:prstGeom>
          <a:noFill/>
          <a:ln/>
        </p:spPr>
        <p:txBody>
          <a:bodyPr wrap="square" lIns="0" tIns="0" rIns="0" bIns="0" rtlCol="0" anchor="t"/>
          <a:lstStyle/>
          <a:p>
            <a:pPr algn="ctr" indent="0" marL="0">
              <a:buNone/>
            </a:pPr>
            <a:r>
              <a:rPr lang="en-US" sz="1050" dirty="0">
                <a:solidFill>
                  <a:srgbClr val="1B1B1B"/>
                </a:solidFill>
                <a:latin typeface="Calibri" pitchFamily="34" charset="0"/>
                <a:ea typeface="Calibri" pitchFamily="34" charset="-122"/>
                <a:cs typeface="Calibri" pitchFamily="34" charset="-120"/>
              </a:rPr>
              <a:t>Incident détecté</a:t>
            </a:r>
            <a:endParaRPr lang="en-US" sz="1050" dirty="0"/>
          </a:p>
        </p:txBody>
      </p:sp>
      <p:sp>
        <p:nvSpPr>
          <p:cNvPr id="14" name="Shape 12"/>
          <p:cNvSpPr/>
          <p:nvPr/>
        </p:nvSpPr>
        <p:spPr>
          <a:xfrm>
            <a:off x="8037576" y="1956816"/>
            <a:ext cx="201168" cy="201168"/>
          </a:xfrm>
          <a:prstGeom prst="ellipse">
            <a:avLst/>
          </a:prstGeom>
          <a:solidFill>
            <a:srgbClr val="00915A"/>
          </a:solidFill>
          <a:ln w="12700">
            <a:solidFill>
              <a:srgbClr val="00915A"/>
            </a:solidFill>
            <a:prstDash val="solid"/>
          </a:ln>
        </p:spPr>
      </p:sp>
      <p:sp>
        <p:nvSpPr>
          <p:cNvPr id="15" name="Text 13"/>
          <p:cNvSpPr txBox="1"/>
          <p:nvPr/>
        </p:nvSpPr>
        <p:spPr>
          <a:xfrm>
            <a:off x="7315200" y="1005840"/>
            <a:ext cx="1645920" cy="502920"/>
          </a:xfrm>
          <a:prstGeom prst="rect">
            <a:avLst/>
          </a:prstGeom>
          <a:noFill/>
          <a:ln/>
        </p:spPr>
        <p:txBody>
          <a:bodyPr wrap="square" lIns="0" tIns="0" rIns="0" bIns="0" rtlCol="0" anchor="b"/>
          <a:lstStyle/>
          <a:p>
            <a:pPr algn="ctr" indent="0" marL="0">
              <a:buNone/>
            </a:pPr>
            <a:r>
              <a:rPr lang="en-US" sz="1050" dirty="0">
                <a:solidFill>
                  <a:srgbClr val="1B1B1B"/>
                </a:solidFill>
                <a:latin typeface="Calibri" pitchFamily="34" charset="0"/>
                <a:ea typeface="Calibri" pitchFamily="34" charset="-122"/>
                <a:cs typeface="Calibri" pitchFamily="34" charset="-120"/>
              </a:rPr>
              <a:t>Maintenant</a:t>
            </a:r>
            <a:endParaRPr lang="en-US" sz="1050" dirty="0"/>
          </a:p>
          <a:p>
            <a:pPr algn="ctr" indent="0" marL="0">
              <a:buNone/>
            </a:pPr>
            <a:r>
              <a:rPr lang="en-US" sz="1050" dirty="0">
                <a:solidFill>
                  <a:srgbClr val="1B1B1B"/>
                </a:solidFill>
                <a:latin typeface="Calibri" pitchFamily="34" charset="0"/>
                <a:ea typeface="Calibri" pitchFamily="34" charset="-122"/>
                <a:cs typeface="Calibri" pitchFamily="34" charset="-120"/>
              </a:rPr>
              <a:t>(end − RPO)</a:t>
            </a:r>
            <a:endParaRPr lang="en-US" sz="1050" dirty="0"/>
          </a:p>
        </p:txBody>
      </p:sp>
      <p:sp>
        <p:nvSpPr>
          <p:cNvPr id="16" name="Text 14"/>
          <p:cNvSpPr txBox="1"/>
          <p:nvPr/>
        </p:nvSpPr>
        <p:spPr>
          <a:xfrm>
            <a:off x="8138160" y="2103120"/>
            <a:ext cx="822960" cy="274320"/>
          </a:xfrm>
          <a:prstGeom prst="rect">
            <a:avLst/>
          </a:prstGeom>
          <a:noFill/>
          <a:ln/>
        </p:spPr>
        <p:txBody>
          <a:bodyPr wrap="square" lIns="0" tIns="0" rIns="0" bIns="0" rtlCol="0" anchor="ctr"/>
          <a:lstStyle/>
          <a:p>
            <a:pPr indent="0" marL="0">
              <a:buNone/>
            </a:pPr>
            <a:r>
              <a:rPr lang="en-US" sz="900" dirty="0">
                <a:solidFill>
                  <a:srgbClr val="5F6B66"/>
                </a:solidFill>
                <a:latin typeface="Calibri" pitchFamily="34" charset="0"/>
                <a:ea typeface="Calibri" pitchFamily="34" charset="-122"/>
                <a:cs typeface="Calibri" pitchFamily="34" charset="-120"/>
              </a:rPr>
              <a:t>→ temps</a:t>
            </a:r>
            <a:endParaRPr lang="en-US" sz="900" dirty="0"/>
          </a:p>
        </p:txBody>
      </p:sp>
      <p:sp>
        <p:nvSpPr>
          <p:cNvPr id="17" name="Shape 15"/>
          <p:cNvSpPr/>
          <p:nvPr/>
        </p:nvSpPr>
        <p:spPr>
          <a:xfrm>
            <a:off x="457200" y="3154680"/>
            <a:ext cx="3977640" cy="1325880"/>
          </a:xfrm>
          <a:prstGeom prst="roundRect">
            <a:avLst>
              <a:gd name="adj" fmla="val 6897"/>
            </a:avLst>
          </a:prstGeom>
          <a:solidFill>
            <a:srgbClr val="E6F4EC"/>
          </a:solidFill>
          <a:ln w="12700">
            <a:solidFill>
              <a:srgbClr val="E6F4EC"/>
            </a:solidFill>
            <a:prstDash val="solid"/>
          </a:ln>
        </p:spPr>
      </p:sp>
      <p:sp>
        <p:nvSpPr>
          <p:cNvPr id="18" name="Text 16"/>
          <p:cNvSpPr txBox="1"/>
          <p:nvPr/>
        </p:nvSpPr>
        <p:spPr>
          <a:xfrm>
            <a:off x="640080" y="3246120"/>
            <a:ext cx="3657600" cy="365760"/>
          </a:xfrm>
          <a:prstGeom prst="rect">
            <a:avLst/>
          </a:prstGeom>
          <a:noFill/>
          <a:ln/>
        </p:spPr>
        <p:txBody>
          <a:bodyPr wrap="square" lIns="0" tIns="0" rIns="0" bIns="0" rtlCol="0" anchor="ctr"/>
          <a:lstStyle/>
          <a:p>
            <a:pPr indent="0" marL="0">
              <a:buNone/>
            </a:pPr>
            <a:r>
              <a:rPr lang="en-US" sz="1500" b="1" dirty="0">
                <a:solidFill>
                  <a:srgbClr val="C0392B"/>
                </a:solidFill>
                <a:latin typeface="Cambria" pitchFamily="34" charset="0"/>
                <a:ea typeface="Cambria" pitchFamily="34" charset="-122"/>
                <a:cs typeface="Cambria" pitchFamily="34" charset="-120"/>
              </a:rPr>
              <a:t>Rétention 1 jour = ~23 h utiles</a:t>
            </a:r>
            <a:endParaRPr lang="en-US" sz="1500" dirty="0"/>
          </a:p>
        </p:txBody>
      </p:sp>
      <p:sp>
        <p:nvSpPr>
          <p:cNvPr id="19" name="Text 17"/>
          <p:cNvSpPr txBox="1"/>
          <p:nvPr/>
        </p:nvSpPr>
        <p:spPr>
          <a:xfrm>
            <a:off x="640080" y="3611880"/>
            <a:ext cx="3657600" cy="822960"/>
          </a:xfrm>
          <a:prstGeom prst="rect">
            <a:avLst/>
          </a:prstGeom>
          <a:noFill/>
          <a:ln/>
        </p:spPr>
        <p:txBody>
          <a:bodyPr wrap="square" lIns="0" tIns="0" rIns="0" bIns="0" rtlCol="0" anchor="t"/>
          <a:lstStyle/>
          <a:p>
            <a:pPr indent="0" marL="0">
              <a:buNone/>
            </a:pPr>
            <a:r>
              <a:rPr lang="en-US" sz="1150" dirty="0">
                <a:solidFill>
                  <a:srgbClr val="1B1B1B"/>
                </a:solidFill>
                <a:latin typeface="Calibri" pitchFamily="34" charset="0"/>
                <a:ea typeface="Calibri" pitchFamily="34" charset="-122"/>
                <a:cs typeface="Calibri" pitchFamily="34" charset="-120"/>
              </a:rPr>
              <a:t>L'objet supprimé sort du vault à J+1. Un delete du vendredi soir vu le lundi est perdu. Le « delete marker » ne protège rien au-delà de la fenêtre.</a:t>
            </a:r>
            <a:endParaRPr lang="en-US" sz="1150" dirty="0"/>
          </a:p>
        </p:txBody>
      </p:sp>
      <p:sp>
        <p:nvSpPr>
          <p:cNvPr id="20" name="Shape 18"/>
          <p:cNvSpPr/>
          <p:nvPr/>
        </p:nvSpPr>
        <p:spPr>
          <a:xfrm>
            <a:off x="4709160" y="3154680"/>
            <a:ext cx="3977640" cy="1325880"/>
          </a:xfrm>
          <a:prstGeom prst="roundRect">
            <a:avLst>
              <a:gd name="adj" fmla="val 6897"/>
            </a:avLst>
          </a:prstGeom>
          <a:solidFill>
            <a:srgbClr val="E6F4EC"/>
          </a:solidFill>
          <a:ln w="12700">
            <a:solidFill>
              <a:srgbClr val="E6F4EC"/>
            </a:solidFill>
            <a:prstDash val="solid"/>
          </a:ln>
        </p:spPr>
      </p:sp>
      <p:sp>
        <p:nvSpPr>
          <p:cNvPr id="21" name="Text 19"/>
          <p:cNvSpPr txBox="1"/>
          <p:nvPr/>
        </p:nvSpPr>
        <p:spPr>
          <a:xfrm>
            <a:off x="4892040" y="3246120"/>
            <a:ext cx="3657600" cy="365760"/>
          </a:xfrm>
          <a:prstGeom prst="rect">
            <a:avLst/>
          </a:prstGeom>
          <a:noFill/>
          <a:ln/>
        </p:spPr>
        <p:txBody>
          <a:bodyPr wrap="square" lIns="0" tIns="0" rIns="0" bIns="0" rtlCol="0" anchor="ctr"/>
          <a:lstStyle/>
          <a:p>
            <a:pPr indent="0" marL="0">
              <a:buNone/>
            </a:pPr>
            <a:r>
              <a:rPr lang="en-US" sz="1500" b="1" dirty="0">
                <a:solidFill>
                  <a:srgbClr val="00915A"/>
                </a:solidFill>
                <a:latin typeface="Cambria" pitchFamily="34" charset="0"/>
                <a:ea typeface="Cambria" pitchFamily="34" charset="-122"/>
                <a:cs typeface="Cambria" pitchFamily="34" charset="-120"/>
              </a:rPr>
              <a:t>Reco : 7 j minimum, 30 j si critique</a:t>
            </a:r>
            <a:endParaRPr lang="en-US" sz="1500" dirty="0"/>
          </a:p>
        </p:txBody>
      </p:sp>
      <p:sp>
        <p:nvSpPr>
          <p:cNvPr id="22" name="Text 20"/>
          <p:cNvSpPr txBox="1"/>
          <p:nvPr/>
        </p:nvSpPr>
        <p:spPr>
          <a:xfrm>
            <a:off x="4892040" y="3611880"/>
            <a:ext cx="3657600" cy="822960"/>
          </a:xfrm>
          <a:prstGeom prst="rect">
            <a:avLst/>
          </a:prstGeom>
          <a:noFill/>
          <a:ln/>
        </p:spPr>
        <p:txBody>
          <a:bodyPr wrap="square" lIns="0" tIns="0" rIns="0" bIns="0" rtlCol="0" anchor="t"/>
          <a:lstStyle/>
          <a:p>
            <a:pPr indent="0" marL="0">
              <a:buNone/>
            </a:pPr>
            <a:r>
              <a:rPr lang="en-US" sz="1150" dirty="0">
                <a:solidFill>
                  <a:srgbClr val="1B1B1B"/>
                </a:solidFill>
                <a:latin typeface="Calibri" pitchFamily="34" charset="0"/>
                <a:ea typeface="Calibri" pitchFamily="34" charset="-122"/>
                <a:cs typeface="Calibri" pitchFamily="34" charset="-120"/>
              </a:rPr>
              <a:t>La fenêtre doit dépasser le délai de détection réaliste. Jamais raccourcissable : partir prudent et allonger si besoin.</a:t>
            </a:r>
            <a:endParaRPr lang="en-US" sz="1150" dirty="0"/>
          </a:p>
        </p:txBody>
      </p:sp>
      <p:sp>
        <p:nvSpPr>
          <p:cNvPr id="23" name="Text 21"/>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900" dirty="0">
                <a:solidFill>
                  <a:srgbClr val="5F6B66"/>
                </a:solidFill>
                <a:latin typeface="Calibri" pitchFamily="34" charset="0"/>
                <a:ea typeface="Calibri" pitchFamily="34" charset="-122"/>
                <a:cs typeface="Calibri" pitchFamily="34" charset="-120"/>
              </a:rPr>
              <a:t>COS Backup Vault  ·  6/8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0B3D2E"/>
                </a:solidFill>
                <a:latin typeface="Cambria" pitchFamily="34" charset="0"/>
                <a:ea typeface="Cambria" pitchFamily="34" charset="-122"/>
                <a:cs typeface="Cambria" pitchFamily="34" charset="-120"/>
              </a:rPr>
              <a:t>Backup Vault vs l'existant</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103120"/>
                <a:gridCol w="1417320"/>
                <a:gridCol w="1554480"/>
                <a:gridCol w="1417320"/>
                <a:gridCol w="1737360"/>
              </a:tblGrid>
              <a:tr h="438912">
                <a:tc>
                  <a:txBody>
                    <a:bodyPr/>
                    <a:lstStyle/>
                    <a:p>
                      <a:pPr indent="0" marL="0">
                        <a:buNone/>
                      </a:pPr>
                      <a:endParaRPr lang="en-US" sz="12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0B3D2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Versioning</a:t>
                      </a:r>
                      <a:endParaRPr lang="en-US" sz="110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0B3D2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Object Lock</a:t>
                      </a:r>
                      <a:endParaRPr lang="en-US" sz="110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0B3D2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Réplication</a:t>
                      </a:r>
                      <a:endParaRPr lang="en-US" sz="110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0B3D2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Backup Vault</a:t>
                      </a:r>
                      <a:endParaRPr lang="en-US" sz="110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0B3D2E"/>
                    </a:solidFill>
                  </a:tcPr>
                </a:tc>
              </a:tr>
              <a:tr h="438912">
                <a:tc>
                  <a:txBody>
                    <a:bodyPr/>
                    <a:lstStyle/>
                    <a:p>
                      <a:pPr indent="0" marL="0">
                        <a:buNone/>
                      </a:pPr>
                      <a:r>
                        <a:rPr lang="en-US" sz="1100" b="1" dirty="0">
                          <a:solidFill>
                            <a:srgbClr val="0B3D2E"/>
                          </a:solidFill>
                          <a:latin typeface="Calibri" pitchFamily="34" charset="0"/>
                          <a:ea typeface="Calibri" pitchFamily="34" charset="-122"/>
                          <a:cs typeface="Calibri" pitchFamily="34" charset="-120"/>
                        </a:rPr>
                        <a:t>Delete / overwrite simple</a:t>
                      </a:r>
                      <a:endParaRPr lang="en-US" sz="110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E6F4EC"/>
                    </a:solidFill>
                  </a:tcPr>
                </a:tc>
                <a:tc>
                  <a:txBody>
                    <a:bodyPr/>
                    <a:lstStyle/>
                    <a:p>
                      <a:pPr algn="ctr" indent="0" marL="0">
                        <a:buNone/>
                      </a:pPr>
                      <a:r>
                        <a:rPr lang="en-US" sz="1050" b="1" dirty="0">
                          <a:solidFill>
                            <a:srgbClr val="00915A"/>
                          </a:solidFill>
                          <a:latin typeface="Calibri" pitchFamily="34" charset="0"/>
                          <a:ea typeface="Calibri" pitchFamily="34" charset="-122"/>
                          <a:cs typeface="Calibri" pitchFamily="34" charset="-120"/>
                        </a:rPr>
                        <a:t>Oui</a:t>
                      </a:r>
                      <a:endParaRPr lang="en-US" sz="105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algn="ctr" indent="0" marL="0">
                        <a:buNone/>
                      </a:pPr>
                      <a:r>
                        <a:rPr lang="en-US" sz="1050" b="1" dirty="0">
                          <a:solidFill>
                            <a:srgbClr val="00915A"/>
                          </a:solidFill>
                          <a:latin typeface="Calibri" pitchFamily="34" charset="0"/>
                          <a:ea typeface="Calibri" pitchFamily="34" charset="-122"/>
                          <a:cs typeface="Calibri" pitchFamily="34" charset="-120"/>
                        </a:rPr>
                        <a:t>Oui</a:t>
                      </a:r>
                      <a:endParaRPr lang="en-US" sz="105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algn="ctr" indent="0" marL="0">
                        <a:buNone/>
                      </a:pPr>
                      <a:r>
                        <a:rPr lang="en-US" sz="1050" dirty="0">
                          <a:solidFill>
                            <a:srgbClr val="1B1B1B"/>
                          </a:solidFill>
                          <a:latin typeface="Calibri" pitchFamily="34" charset="0"/>
                          <a:ea typeface="Calibri" pitchFamily="34" charset="-122"/>
                          <a:cs typeface="Calibri" pitchFamily="34" charset="-120"/>
                        </a:rPr>
                        <a:t>Répliqué aussi</a:t>
                      </a:r>
                      <a:endParaRPr lang="en-US" sz="105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algn="ctr" indent="0" marL="0">
                        <a:buNone/>
                      </a:pPr>
                      <a:r>
                        <a:rPr lang="en-US" sz="1050" b="1" dirty="0">
                          <a:solidFill>
                            <a:srgbClr val="00915A"/>
                          </a:solidFill>
                          <a:latin typeface="Calibri" pitchFamily="34" charset="0"/>
                          <a:ea typeface="Calibri" pitchFamily="34" charset="-122"/>
                          <a:cs typeface="Calibri" pitchFamily="34" charset="-120"/>
                        </a:rPr>
                        <a:t>Oui</a:t>
                      </a:r>
                      <a:endParaRPr lang="en-US" sz="105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r>
              <a:tr h="438912">
                <a:tc>
                  <a:txBody>
                    <a:bodyPr/>
                    <a:lstStyle/>
                    <a:p>
                      <a:pPr indent="0" marL="0">
                        <a:buNone/>
                      </a:pPr>
                      <a:r>
                        <a:rPr lang="en-US" sz="1100" b="1" dirty="0">
                          <a:solidFill>
                            <a:srgbClr val="0B3D2E"/>
                          </a:solidFill>
                          <a:latin typeface="Calibri" pitchFamily="34" charset="0"/>
                          <a:ea typeface="Calibri" pitchFamily="34" charset="-122"/>
                          <a:cs typeface="Calibri" pitchFamily="34" charset="-120"/>
                        </a:rPr>
                        <a:t>Suppression définitive de version</a:t>
                      </a:r>
                      <a:endParaRPr lang="en-US" sz="110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E6F4EC"/>
                    </a:solidFill>
                  </a:tcPr>
                </a:tc>
                <a:tc>
                  <a:txBody>
                    <a:bodyPr/>
                    <a:lstStyle/>
                    <a:p>
                      <a:pPr algn="ctr" indent="0" marL="0">
                        <a:buNone/>
                      </a:pPr>
                      <a:r>
                        <a:rPr lang="en-US" sz="1050" dirty="0">
                          <a:solidFill>
                            <a:srgbClr val="C0392B"/>
                          </a:solidFill>
                          <a:latin typeface="Calibri" pitchFamily="34" charset="0"/>
                          <a:ea typeface="Calibri" pitchFamily="34" charset="-122"/>
                          <a:cs typeface="Calibri" pitchFamily="34" charset="-120"/>
                        </a:rPr>
                        <a:t>Non</a:t>
                      </a:r>
                      <a:endParaRPr lang="en-US" sz="105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algn="ctr" indent="0" marL="0">
                        <a:buNone/>
                      </a:pPr>
                      <a:r>
                        <a:rPr lang="en-US" sz="1050" b="1" dirty="0">
                          <a:solidFill>
                            <a:srgbClr val="00915A"/>
                          </a:solidFill>
                          <a:latin typeface="Calibri" pitchFamily="34" charset="0"/>
                          <a:ea typeface="Calibri" pitchFamily="34" charset="-122"/>
                          <a:cs typeface="Calibri" pitchFamily="34" charset="-120"/>
                        </a:rPr>
                        <a:t>Bloquée</a:t>
                      </a:r>
                      <a:endParaRPr lang="en-US" sz="105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algn="ctr" indent="0" marL="0">
                        <a:buNone/>
                      </a:pPr>
                      <a:r>
                        <a:rPr lang="en-US" sz="1050" dirty="0">
                          <a:solidFill>
                            <a:srgbClr val="C0392B"/>
                          </a:solidFill>
                          <a:latin typeface="Calibri" pitchFamily="34" charset="0"/>
                          <a:ea typeface="Calibri" pitchFamily="34" charset="-122"/>
                          <a:cs typeface="Calibri" pitchFamily="34" charset="-120"/>
                        </a:rPr>
                        <a:t>Non</a:t>
                      </a:r>
                      <a:endParaRPr lang="en-US" sz="105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algn="ctr" indent="0" marL="0">
                        <a:buNone/>
                      </a:pPr>
                      <a:r>
                        <a:rPr lang="en-US" sz="1050" b="1" dirty="0">
                          <a:solidFill>
                            <a:srgbClr val="00915A"/>
                          </a:solidFill>
                          <a:latin typeface="Calibri" pitchFamily="34" charset="0"/>
                          <a:ea typeface="Calibri" pitchFamily="34" charset="-122"/>
                          <a:cs typeface="Calibri" pitchFamily="34" charset="-120"/>
                        </a:rPr>
                        <a:t>Si dans la fenêtre</a:t>
                      </a:r>
                      <a:endParaRPr lang="en-US" sz="105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r>
              <a:tr h="438912">
                <a:tc>
                  <a:txBody>
                    <a:bodyPr/>
                    <a:lstStyle/>
                    <a:p>
                      <a:pPr indent="0" marL="0">
                        <a:buNone/>
                      </a:pPr>
                      <a:r>
                        <a:rPr lang="en-US" sz="1100" b="1" dirty="0">
                          <a:solidFill>
                            <a:srgbClr val="0B3D2E"/>
                          </a:solidFill>
                          <a:latin typeface="Calibri" pitchFamily="34" charset="0"/>
                          <a:ea typeface="Calibri" pitchFamily="34" charset="-122"/>
                          <a:cs typeface="Calibri" pitchFamily="34" charset="-120"/>
                        </a:rPr>
                        <a:t>Perte bucket / instance / compte</a:t>
                      </a:r>
                      <a:endParaRPr lang="en-US" sz="110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E6F4EC"/>
                    </a:solidFill>
                  </a:tcPr>
                </a:tc>
                <a:tc>
                  <a:txBody>
                    <a:bodyPr/>
                    <a:lstStyle/>
                    <a:p>
                      <a:pPr algn="ctr" indent="0" marL="0">
                        <a:buNone/>
                      </a:pPr>
                      <a:r>
                        <a:rPr lang="en-US" sz="1050" dirty="0">
                          <a:solidFill>
                            <a:srgbClr val="C0392B"/>
                          </a:solidFill>
                          <a:latin typeface="Calibri" pitchFamily="34" charset="0"/>
                          <a:ea typeface="Calibri" pitchFamily="34" charset="-122"/>
                          <a:cs typeface="Calibri" pitchFamily="34" charset="-120"/>
                        </a:rPr>
                        <a:t>Non</a:t>
                      </a:r>
                      <a:endParaRPr lang="en-US" sz="105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algn="ctr" indent="0" marL="0">
                        <a:buNone/>
                      </a:pPr>
                      <a:r>
                        <a:rPr lang="en-US" sz="1050" dirty="0">
                          <a:solidFill>
                            <a:srgbClr val="C0392B"/>
                          </a:solidFill>
                          <a:latin typeface="Calibri" pitchFamily="34" charset="0"/>
                          <a:ea typeface="Calibri" pitchFamily="34" charset="-122"/>
                          <a:cs typeface="Calibri" pitchFamily="34" charset="-120"/>
                        </a:rPr>
                        <a:t>Non</a:t>
                      </a:r>
                      <a:endParaRPr lang="en-US" sz="105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algn="ctr" indent="0" marL="0">
                        <a:buNone/>
                      </a:pPr>
                      <a:r>
                        <a:rPr lang="en-US" sz="1050" dirty="0">
                          <a:solidFill>
                            <a:srgbClr val="1B1B1B"/>
                          </a:solidFill>
                          <a:latin typeface="Calibri" pitchFamily="34" charset="0"/>
                          <a:ea typeface="Calibri" pitchFamily="34" charset="-122"/>
                          <a:cs typeface="Calibri" pitchFamily="34" charset="-120"/>
                        </a:rPr>
                        <a:t>Partiel (zone)</a:t>
                      </a:r>
                      <a:endParaRPr lang="en-US" sz="105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algn="ctr" indent="0" marL="0">
                        <a:buNone/>
                      </a:pPr>
                      <a:r>
                        <a:rPr lang="en-US" sz="1050" b="1" dirty="0">
                          <a:solidFill>
                            <a:srgbClr val="00915A"/>
                          </a:solidFill>
                          <a:latin typeface="Calibri" pitchFamily="34" charset="0"/>
                          <a:ea typeface="Calibri" pitchFamily="34" charset="-122"/>
                          <a:cs typeface="Calibri" pitchFamily="34" charset="-120"/>
                        </a:rPr>
                        <a:t>Si vault isolé</a:t>
                      </a:r>
                      <a:endParaRPr lang="en-US" sz="105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r>
              <a:tr h="438912">
                <a:tc>
                  <a:txBody>
                    <a:bodyPr/>
                    <a:lstStyle/>
                    <a:p>
                      <a:pPr indent="0" marL="0">
                        <a:buNone/>
                      </a:pPr>
                      <a:r>
                        <a:rPr lang="en-US" sz="1100" b="1" dirty="0">
                          <a:solidFill>
                            <a:srgbClr val="0B3D2E"/>
                          </a:solidFill>
                          <a:latin typeface="Calibri" pitchFamily="34" charset="0"/>
                          <a:ea typeface="Calibri" pitchFamily="34" charset="-122"/>
                          <a:cs typeface="Calibri" pitchFamily="34" charset="-120"/>
                        </a:rPr>
                        <a:t>Point-in-time bucket entier</a:t>
                      </a:r>
                      <a:endParaRPr lang="en-US" sz="110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E6F4EC"/>
                    </a:solidFill>
                  </a:tcPr>
                </a:tc>
                <a:tc>
                  <a:txBody>
                    <a:bodyPr/>
                    <a:lstStyle/>
                    <a:p>
                      <a:pPr algn="ctr" indent="0" marL="0">
                        <a:buNone/>
                      </a:pPr>
                      <a:r>
                        <a:rPr lang="en-US" sz="1050" dirty="0">
                          <a:solidFill>
                            <a:srgbClr val="C0392B"/>
                          </a:solidFill>
                          <a:latin typeface="Calibri" pitchFamily="34" charset="0"/>
                          <a:ea typeface="Calibri" pitchFamily="34" charset="-122"/>
                          <a:cs typeface="Calibri" pitchFamily="34" charset="-120"/>
                        </a:rPr>
                        <a:t>Clé par clé</a:t>
                      </a:r>
                      <a:endParaRPr lang="en-US" sz="105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algn="ctr" indent="0" marL="0">
                        <a:buNone/>
                      </a:pPr>
                      <a:r>
                        <a:rPr lang="en-US" sz="1050" dirty="0">
                          <a:solidFill>
                            <a:srgbClr val="C0392B"/>
                          </a:solidFill>
                          <a:latin typeface="Calibri" pitchFamily="34" charset="0"/>
                          <a:ea typeface="Calibri" pitchFamily="34" charset="-122"/>
                          <a:cs typeface="Calibri" pitchFamily="34" charset="-120"/>
                        </a:rPr>
                        <a:t>Clé par clé</a:t>
                      </a:r>
                      <a:endParaRPr lang="en-US" sz="105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algn="ctr" indent="0" marL="0">
                        <a:buNone/>
                      </a:pPr>
                      <a:r>
                        <a:rPr lang="en-US" sz="1050" dirty="0">
                          <a:solidFill>
                            <a:srgbClr val="C0392B"/>
                          </a:solidFill>
                          <a:latin typeface="Calibri" pitchFamily="34" charset="0"/>
                          <a:ea typeface="Calibri" pitchFamily="34" charset="-122"/>
                          <a:cs typeface="Calibri" pitchFamily="34" charset="-120"/>
                        </a:rPr>
                        <a:t>Non</a:t>
                      </a:r>
                      <a:endParaRPr lang="en-US" sz="105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algn="ctr" indent="0" marL="0">
                        <a:buNone/>
                      </a:pPr>
                      <a:r>
                        <a:rPr lang="en-US" sz="1050" b="1" dirty="0">
                          <a:solidFill>
                            <a:srgbClr val="00915A"/>
                          </a:solidFill>
                          <a:latin typeface="Calibri" pitchFamily="34" charset="0"/>
                          <a:ea typeface="Calibri" pitchFamily="34" charset="-122"/>
                          <a:cs typeface="Calibri" pitchFamily="34" charset="-120"/>
                        </a:rPr>
                        <a:t>Natif</a:t>
                      </a:r>
                      <a:endParaRPr lang="en-US" sz="105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r>
              <a:tr h="438912">
                <a:tc>
                  <a:txBody>
                    <a:bodyPr/>
                    <a:lstStyle/>
                    <a:p>
                      <a:pPr indent="0" marL="0">
                        <a:buNone/>
                      </a:pPr>
                      <a:r>
                        <a:rPr lang="en-US" sz="1100" b="1" dirty="0">
                          <a:solidFill>
                            <a:srgbClr val="0B3D2E"/>
                          </a:solidFill>
                          <a:latin typeface="Calibri" pitchFamily="34" charset="0"/>
                          <a:ea typeface="Calibri" pitchFamily="34" charset="-122"/>
                          <a:cs typeface="Calibri" pitchFamily="34" charset="-120"/>
                        </a:rPr>
                        <a:t>RPO</a:t>
                      </a:r>
                      <a:endParaRPr lang="en-US" sz="110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E6F4EC"/>
                    </a:solidFill>
                  </a:tcPr>
                </a:tc>
                <a:tc>
                  <a:txBody>
                    <a:bodyPr/>
                    <a:lstStyle/>
                    <a:p>
                      <a:pPr algn="ctr" indent="0" marL="0">
                        <a:buNone/>
                      </a:pPr>
                      <a:r>
                        <a:rPr lang="en-US" sz="1050" dirty="0">
                          <a:solidFill>
                            <a:srgbClr val="1B1B1B"/>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algn="ctr" indent="0" marL="0">
                        <a:buNone/>
                      </a:pPr>
                      <a:r>
                        <a:rPr lang="en-US" sz="1050" dirty="0">
                          <a:solidFill>
                            <a:srgbClr val="1B1B1B"/>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algn="ctr" indent="0" marL="0">
                        <a:buNone/>
                      </a:pPr>
                      <a:r>
                        <a:rPr lang="en-US" sz="1050" dirty="0">
                          <a:solidFill>
                            <a:srgbClr val="1B1B1B"/>
                          </a:solidFill>
                          <a:latin typeface="Calibri" pitchFamily="34" charset="0"/>
                          <a:ea typeface="Calibri" pitchFamily="34" charset="-122"/>
                          <a:cs typeface="Calibri" pitchFamily="34" charset="-120"/>
                        </a:rPr>
                        <a:t>Asynchrone</a:t>
                      </a:r>
                      <a:endParaRPr lang="en-US" sz="105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algn="ctr" indent="0" marL="0">
                        <a:buNone/>
                      </a:pPr>
                      <a:r>
                        <a:rPr lang="en-US" sz="1050" dirty="0">
                          <a:solidFill>
                            <a:srgbClr val="1B1B1B"/>
                          </a:solidFill>
                          <a:latin typeface="Calibri" pitchFamily="34" charset="0"/>
                          <a:ea typeface="Calibri" pitchFamily="34" charset="-122"/>
                          <a:cs typeface="Calibri" pitchFamily="34" charset="-120"/>
                        </a:rPr>
                        <a:t>≤ 1 h</a:t>
                      </a:r>
                      <a:endParaRPr lang="en-US" sz="105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r>
              <a:tr h="438912">
                <a:tc>
                  <a:txBody>
                    <a:bodyPr/>
                    <a:lstStyle/>
                    <a:p>
                      <a:pPr indent="0" marL="0">
                        <a:buNone/>
                      </a:pPr>
                      <a:r>
                        <a:rPr lang="en-US" sz="1100" b="1" dirty="0">
                          <a:solidFill>
                            <a:srgbClr val="0B3D2E"/>
                          </a:solidFill>
                          <a:latin typeface="Calibri" pitchFamily="34" charset="0"/>
                          <a:ea typeface="Calibri" pitchFamily="34" charset="-122"/>
                          <a:cs typeface="Calibri" pitchFamily="34" charset="-120"/>
                        </a:rPr>
                        <a:t>Coût (rétention R)</a:t>
                      </a:r>
                      <a:endParaRPr lang="en-US" sz="110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rgbClr val="E6F4EC"/>
                    </a:solidFill>
                  </a:tcPr>
                </a:tc>
                <a:tc>
                  <a:txBody>
                    <a:bodyPr/>
                    <a:lstStyle/>
                    <a:p>
                      <a:pPr algn="ctr" indent="0" marL="0">
                        <a:buNone/>
                      </a:pPr>
                      <a:r>
                        <a:rPr lang="en-US" sz="1050" dirty="0">
                          <a:solidFill>
                            <a:srgbClr val="1B1B1B"/>
                          </a:solidFill>
                          <a:latin typeface="Calibri" pitchFamily="34" charset="0"/>
                          <a:ea typeface="Calibri" pitchFamily="34" charset="-122"/>
                          <a:cs typeface="Calibri" pitchFamily="34" charset="-120"/>
                        </a:rPr>
                        <a:t>Versions × R</a:t>
                      </a:r>
                      <a:endParaRPr lang="en-US" sz="105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algn="ctr" indent="0" marL="0">
                        <a:buNone/>
                      </a:pPr>
                      <a:r>
                        <a:rPr lang="en-US" sz="1050" dirty="0">
                          <a:solidFill>
                            <a:srgbClr val="1B1B1B"/>
                          </a:solidFill>
                          <a:latin typeface="Calibri" pitchFamily="34" charset="0"/>
                          <a:ea typeface="Calibri" pitchFamily="34" charset="-122"/>
                          <a:cs typeface="Calibri" pitchFamily="34" charset="-120"/>
                        </a:rPr>
                        <a:t>Versions × R, verrouillées</a:t>
                      </a:r>
                      <a:endParaRPr lang="en-US" sz="105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algn="ctr" indent="0" marL="0">
                        <a:buNone/>
                      </a:pPr>
                      <a:r>
                        <a:rPr lang="en-US" sz="1050" dirty="0">
                          <a:solidFill>
                            <a:srgbClr val="1B1B1B"/>
                          </a:solidFill>
                          <a:latin typeface="Calibri" pitchFamily="34" charset="0"/>
                          <a:ea typeface="Calibri" pitchFamily="34" charset="-122"/>
                          <a:cs typeface="Calibri" pitchFamily="34" charset="-120"/>
                        </a:rPr>
                        <a:t>Copie complète</a:t>
                      </a:r>
                      <a:endParaRPr lang="en-US" sz="105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algn="ctr" indent="0" marL="0">
                        <a:buNone/>
                      </a:pPr>
                      <a:r>
                        <a:rPr lang="en-US" sz="1050" dirty="0">
                          <a:solidFill>
                            <a:srgbClr val="1B1B1B"/>
                          </a:solidFill>
                          <a:latin typeface="Calibri" pitchFamily="34" charset="0"/>
                          <a:ea typeface="Calibri" pitchFamily="34" charset="-122"/>
                          <a:cs typeface="Calibri" pitchFamily="34" charset="-120"/>
                        </a:rPr>
                        <a:t>Copie complète + versions × R</a:t>
                      </a:r>
                      <a:endParaRPr lang="en-US" sz="1050" dirty="0">
                        <a:latin typeface="Calibri" charset="0"/>
                        <a:ea typeface="Calibri" charset="0"/>
                        <a:cs typeface="Calibri" charset="0"/>
                      </a:endParaRPr>
                    </a:p>
                  </a:txBody>
                  <a:tcPr marL="91440" marR="91440" marT="45720" marB="45720" anchor="ctr">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r>
            </a:tbl>
          </a:graphicData>
        </a:graphic>
      </p:graphicFrame>
      <p:sp>
        <p:nvSpPr>
          <p:cNvPr id="4" name="Text 1"/>
          <p:cNvSpPr txBox="1"/>
          <p:nvPr/>
        </p:nvSpPr>
        <p:spPr>
          <a:xfrm>
            <a:off x="457200" y="4251960"/>
            <a:ext cx="8229600" cy="411480"/>
          </a:xfrm>
          <a:prstGeom prst="rect">
            <a:avLst/>
          </a:prstGeom>
          <a:noFill/>
          <a:ln/>
        </p:spPr>
        <p:txBody>
          <a:bodyPr wrap="square" lIns="0" tIns="0" rIns="0" bIns="0" rtlCol="0" anchor="ctr"/>
          <a:lstStyle/>
          <a:p>
            <a:pPr indent="0" marL="0">
              <a:buNone/>
            </a:pPr>
            <a:r>
              <a:rPr lang="en-US" sz="1150" i="1" dirty="0">
                <a:solidFill>
                  <a:srgbClr val="5F6B66"/>
                </a:solidFill>
                <a:latin typeface="Calibri" pitchFamily="34" charset="0"/>
                <a:ea typeface="Calibri" pitchFamily="34" charset="-122"/>
                <a:cs typeface="Calibri" pitchFamily="34" charset="-120"/>
              </a:rPr>
              <a:t>Complémentaires, pas concurrents : Object Lock court pour la récupération rapide en place, Backup Vault isolé pour survivre à la perte du périmètre.</a:t>
            </a:r>
            <a:endParaRPr lang="en-US" sz="1150" dirty="0"/>
          </a:p>
        </p:txBody>
      </p:sp>
      <p:sp>
        <p:nvSpPr>
          <p:cNvPr id="5" name="Text 2"/>
          <p:cNvSpPr txBox="1"/>
          <p:nvPr/>
        </p:nvSpPr>
        <p:spPr>
          <a:xfrm>
            <a:off x="457200" y="4754880"/>
            <a:ext cx="8229600" cy="274320"/>
          </a:xfrm>
          <a:prstGeom prst="rect">
            <a:avLst/>
          </a:prstGeom>
          <a:noFill/>
          <a:ln/>
        </p:spPr>
        <p:txBody>
          <a:bodyPr wrap="square" lIns="0" tIns="0" rIns="0" bIns="0" rtlCol="0" anchor="ctr"/>
          <a:lstStyle/>
          <a:p>
            <a:pPr algn="r" indent="0" marL="0">
              <a:buNone/>
            </a:pPr>
            <a:r>
              <a:rPr lang="en-US" sz="900" dirty="0">
                <a:solidFill>
                  <a:srgbClr val="5F6B66"/>
                </a:solidFill>
                <a:latin typeface="Calibri" pitchFamily="34" charset="0"/>
                <a:ea typeface="Calibri" pitchFamily="34" charset="-122"/>
                <a:cs typeface="Calibri" pitchFamily="34" charset="-120"/>
              </a:rPr>
              <a:t>COS Backup Vault  ·  7/8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3D2E"/>
        </a:solidFill>
      </p:bgPr>
    </p:bg>
    <p:spTree>
      <p:nvGrpSpPr>
        <p:cNvPr id="1" name=""/>
        <p:cNvGrpSpPr/>
        <p:nvPr/>
      </p:nvGrpSpPr>
      <p:grpSpPr>
        <a:xfrm>
          <a:off x="0" y="0"/>
          <a:ext cx="0" cy="0"/>
          <a:chOff x="0" y="0"/>
          <a:chExt cx="0" cy="0"/>
        </a:xfrm>
      </p:grpSpPr>
      <p:sp>
        <p:nvSpPr>
          <p:cNvPr id="2" name="Shape 0"/>
          <p:cNvSpPr/>
          <p:nvPr/>
        </p:nvSpPr>
        <p:spPr>
          <a:xfrm>
            <a:off x="-1371600" y="3200400"/>
            <a:ext cx="3657600" cy="3657600"/>
          </a:xfrm>
          <a:prstGeom prst="ellipse">
            <a:avLst/>
          </a:prstGeom>
          <a:solidFill>
            <a:srgbClr val="00915A">
              <a:alpha val="20000"/>
            </a:srgbClr>
          </a:solidFill>
          <a:ln w="12700">
            <a:solidFill>
              <a:srgbClr val="00915A">
                <a:alpha val="0"/>
              </a:srgbClr>
            </a:solidFill>
            <a:prstDash val="solid"/>
          </a:ln>
        </p:spPr>
      </p:sp>
      <p:sp>
        <p:nvSpPr>
          <p:cNvPr id="3" name="Text 1"/>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Ce qu'on propose</a:t>
            </a:r>
            <a:endParaRPr lang="en-US" sz="3000" dirty="0"/>
          </a:p>
        </p:txBody>
      </p:sp>
      <p:pic>
        <p:nvPicPr>
          <p:cNvPr id="4" name="Image 0" descr="preencoded.png">    </p:cNvPr>
          <p:cNvPicPr>
            <a:picLocks noChangeAspect="1"/>
          </p:cNvPicPr>
          <p:nvPr/>
        </p:nvPicPr>
        <p:blipFill>
          <a:blip r:embed="rId1"/>
          <a:stretch>
            <a:fillRect/>
          </a:stretch>
        </p:blipFill>
        <p:spPr>
          <a:xfrm>
            <a:off x="548640" y="1234440"/>
            <a:ext cx="292608" cy="292608"/>
          </a:xfrm>
          <a:prstGeom prst="rect">
            <a:avLst/>
          </a:prstGeom>
        </p:spPr>
      </p:pic>
      <p:sp>
        <p:nvSpPr>
          <p:cNvPr id="5" name="Text 2"/>
          <p:cNvSpPr txBox="1"/>
          <p:nvPr/>
        </p:nvSpPr>
        <p:spPr>
          <a:xfrm>
            <a:off x="960120" y="1188720"/>
            <a:ext cx="7589520"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Tous les buckets prod</a:t>
            </a:r>
            <a:endParaRPr lang="en-US" sz="1500" dirty="0"/>
          </a:p>
        </p:txBody>
      </p:sp>
      <p:sp>
        <p:nvSpPr>
          <p:cNvPr id="6" name="Text 3"/>
          <p:cNvSpPr txBox="1"/>
          <p:nvPr/>
        </p:nvSpPr>
        <p:spPr>
          <a:xfrm>
            <a:off x="960120" y="1508760"/>
            <a:ext cx="7589520" cy="457200"/>
          </a:xfrm>
          <a:prstGeom prst="rect">
            <a:avLst/>
          </a:prstGeom>
          <a:noFill/>
          <a:ln/>
        </p:spPr>
        <p:txBody>
          <a:bodyPr wrap="square" lIns="0" tIns="0" rIns="0" bIns="0" rtlCol="0" anchor="t"/>
          <a:lstStyle/>
          <a:p>
            <a:pPr indent="0" marL="0">
              <a:buNone/>
            </a:pPr>
            <a:r>
              <a:rPr lang="en-US" sz="1150" dirty="0">
                <a:solidFill>
                  <a:srgbClr val="CFE8DA"/>
                </a:solidFill>
                <a:latin typeface="Calibri" pitchFamily="34" charset="0"/>
                <a:ea typeface="Calibri" pitchFamily="34" charset="-122"/>
                <a:cs typeface="Calibri" pitchFamily="34" charset="-120"/>
              </a:rPr>
              <a:t>Versioning + lifecycle 1 j sur les versions non courantes. Object Lock 7 j si immutabilité requise.</a:t>
            </a:r>
            <a:endParaRPr lang="en-US" sz="1150" dirty="0"/>
          </a:p>
        </p:txBody>
      </p:sp>
      <p:pic>
        <p:nvPicPr>
          <p:cNvPr id="7" name="Image 1" descr="preencoded.png">    </p:cNvPr>
          <p:cNvPicPr>
            <a:picLocks noChangeAspect="1"/>
          </p:cNvPicPr>
          <p:nvPr/>
        </p:nvPicPr>
        <p:blipFill>
          <a:blip r:embed="rId2"/>
          <a:stretch>
            <a:fillRect/>
          </a:stretch>
        </p:blipFill>
        <p:spPr>
          <a:xfrm>
            <a:off x="548640" y="2057400"/>
            <a:ext cx="292608" cy="292608"/>
          </a:xfrm>
          <a:prstGeom prst="rect">
            <a:avLst/>
          </a:prstGeom>
        </p:spPr>
      </p:pic>
      <p:sp>
        <p:nvSpPr>
          <p:cNvPr id="8" name="Text 4"/>
          <p:cNvSpPr txBox="1"/>
          <p:nvPr/>
        </p:nvSpPr>
        <p:spPr>
          <a:xfrm>
            <a:off x="960120" y="2011680"/>
            <a:ext cx="7589520"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Buckets critiques</a:t>
            </a:r>
            <a:endParaRPr lang="en-US" sz="1500" dirty="0"/>
          </a:p>
        </p:txBody>
      </p:sp>
      <p:sp>
        <p:nvSpPr>
          <p:cNvPr id="9" name="Text 5"/>
          <p:cNvSpPr txBox="1"/>
          <p:nvPr/>
        </p:nvSpPr>
        <p:spPr>
          <a:xfrm>
            <a:off x="960120" y="2331720"/>
            <a:ext cx="7589520" cy="457200"/>
          </a:xfrm>
          <a:prstGeom prst="rect">
            <a:avLst/>
          </a:prstGeom>
          <a:noFill/>
          <a:ln/>
        </p:spPr>
        <p:txBody>
          <a:bodyPr wrap="square" lIns="0" tIns="0" rIns="0" bIns="0" rtlCol="0" anchor="t"/>
          <a:lstStyle/>
          <a:p>
            <a:pPr indent="0" marL="0">
              <a:buNone/>
            </a:pPr>
            <a:r>
              <a:rPr lang="en-US" sz="1150" dirty="0">
                <a:solidFill>
                  <a:srgbClr val="CFE8DA"/>
                </a:solidFill>
                <a:latin typeface="Calibri" pitchFamily="34" charset="0"/>
                <a:ea typeface="Calibri" pitchFamily="34" charset="-122"/>
                <a:cs typeface="Calibri" pitchFamily="34" charset="-120"/>
              </a:rPr>
              <a:t>Backup Vault 30 j dans une instance et un resource group dédiés, autre région ; compte séparé si exigence cyber.</a:t>
            </a:r>
            <a:endParaRPr lang="en-US" sz="1150" dirty="0"/>
          </a:p>
        </p:txBody>
      </p:sp>
      <p:pic>
        <p:nvPicPr>
          <p:cNvPr id="10" name="Image 2" descr="preencoded.png">    </p:cNvPr>
          <p:cNvPicPr>
            <a:picLocks noChangeAspect="1"/>
          </p:cNvPicPr>
          <p:nvPr/>
        </p:nvPicPr>
        <p:blipFill>
          <a:blip r:embed="rId3"/>
          <a:stretch>
            <a:fillRect/>
          </a:stretch>
        </p:blipFill>
        <p:spPr>
          <a:xfrm>
            <a:off x="548640" y="2880360"/>
            <a:ext cx="292608" cy="292608"/>
          </a:xfrm>
          <a:prstGeom prst="rect">
            <a:avLst/>
          </a:prstGeom>
        </p:spPr>
      </p:pic>
      <p:sp>
        <p:nvSpPr>
          <p:cNvPr id="11" name="Text 6"/>
          <p:cNvSpPr txBox="1"/>
          <p:nvPr/>
        </p:nvSpPr>
        <p:spPr>
          <a:xfrm>
            <a:off x="960120" y="2834640"/>
            <a:ext cx="7589520"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Gouvernance</a:t>
            </a:r>
            <a:endParaRPr lang="en-US" sz="1500" dirty="0"/>
          </a:p>
        </p:txBody>
      </p:sp>
      <p:sp>
        <p:nvSpPr>
          <p:cNvPr id="12" name="Text 7"/>
          <p:cNvSpPr txBox="1"/>
          <p:nvPr/>
        </p:nvSpPr>
        <p:spPr>
          <a:xfrm>
            <a:off x="960120" y="3154680"/>
            <a:ext cx="7589520" cy="457200"/>
          </a:xfrm>
          <a:prstGeom prst="rect">
            <a:avLst/>
          </a:prstGeom>
          <a:noFill/>
          <a:ln/>
        </p:spPr>
        <p:txBody>
          <a:bodyPr wrap="square" lIns="0" tIns="0" rIns="0" bIns="0" rtlCol="0" anchor="t"/>
          <a:lstStyle/>
          <a:p>
            <a:pPr indent="0" marL="0">
              <a:buNone/>
            </a:pPr>
            <a:r>
              <a:rPr lang="en-US" sz="1150" dirty="0">
                <a:solidFill>
                  <a:srgbClr val="CFE8DA"/>
                </a:solidFill>
                <a:latin typeface="Calibri" pitchFamily="34" charset="0"/>
                <a:ea typeface="Calibri" pitchFamily="34" charset="-122"/>
                <a:cs typeface="Calibri" pitchFamily="34" charset="-120"/>
              </a:rPr>
              <a:t>Policies applicatives scopées bucket par bucket, access group « backup admins », alertes Activity Tracker sur delete / rétention.</a:t>
            </a:r>
            <a:endParaRPr lang="en-US" sz="1150" dirty="0"/>
          </a:p>
        </p:txBody>
      </p:sp>
      <p:pic>
        <p:nvPicPr>
          <p:cNvPr id="13" name="Image 3" descr="preencoded.png">    </p:cNvPr>
          <p:cNvPicPr>
            <a:picLocks noChangeAspect="1"/>
          </p:cNvPicPr>
          <p:nvPr/>
        </p:nvPicPr>
        <p:blipFill>
          <a:blip r:embed="rId4"/>
          <a:stretch>
            <a:fillRect/>
          </a:stretch>
        </p:blipFill>
        <p:spPr>
          <a:xfrm>
            <a:off x="548640" y="3703320"/>
            <a:ext cx="292608" cy="292608"/>
          </a:xfrm>
          <a:prstGeom prst="rect">
            <a:avLst/>
          </a:prstGeom>
        </p:spPr>
      </p:pic>
      <p:sp>
        <p:nvSpPr>
          <p:cNvPr id="14" name="Text 8"/>
          <p:cNvSpPr txBox="1"/>
          <p:nvPr/>
        </p:nvSpPr>
        <p:spPr>
          <a:xfrm>
            <a:off x="960120" y="3657600"/>
            <a:ext cx="7589520"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Exercice</a:t>
            </a:r>
            <a:endParaRPr lang="en-US" sz="1500" dirty="0"/>
          </a:p>
        </p:txBody>
      </p:sp>
      <p:sp>
        <p:nvSpPr>
          <p:cNvPr id="15" name="Text 9"/>
          <p:cNvSpPr txBox="1"/>
          <p:nvPr/>
        </p:nvSpPr>
        <p:spPr>
          <a:xfrm>
            <a:off x="960120" y="3977640"/>
            <a:ext cx="7589520" cy="457200"/>
          </a:xfrm>
          <a:prstGeom prst="rect">
            <a:avLst/>
          </a:prstGeom>
          <a:noFill/>
          <a:ln/>
        </p:spPr>
        <p:txBody>
          <a:bodyPr wrap="square" lIns="0" tIns="0" rIns="0" bIns="0" rtlCol="0" anchor="t"/>
          <a:lstStyle/>
          <a:p>
            <a:pPr indent="0" marL="0">
              <a:buNone/>
            </a:pPr>
            <a:r>
              <a:rPr lang="en-US" sz="1150" dirty="0">
                <a:solidFill>
                  <a:srgbClr val="CFE8DA"/>
                </a:solidFill>
                <a:latin typeface="Calibri" pitchFamily="34" charset="0"/>
                <a:ea typeface="Calibri" pitchFamily="34" charset="-122"/>
                <a:cs typeface="Calibri" pitchFamily="34" charset="-120"/>
              </a:rPr>
              <a:t>Un restore de test par trimestre dans un bucket temporaire, chronométré.</a:t>
            </a:r>
            <a:endParaRPr lang="en-US" sz="1150" dirty="0"/>
          </a:p>
        </p:txBody>
      </p:sp>
      <p:sp>
        <p:nvSpPr>
          <p:cNvPr id="16" name="Text 10"/>
          <p:cNvSpPr txBox="1"/>
          <p:nvPr/>
        </p:nvSpPr>
        <p:spPr>
          <a:xfrm>
            <a:off x="457200" y="4526280"/>
            <a:ext cx="8229600" cy="365760"/>
          </a:xfrm>
          <a:prstGeom prst="rect">
            <a:avLst/>
          </a:prstGeom>
          <a:noFill/>
          <a:ln/>
        </p:spPr>
        <p:txBody>
          <a:bodyPr wrap="square" lIns="0" tIns="0" rIns="0" bIns="0" rtlCol="0" anchor="ctr"/>
          <a:lstStyle/>
          <a:p>
            <a:pPr algn="r" indent="0" marL="0">
              <a:buNone/>
            </a:pPr>
            <a:r>
              <a:rPr lang="en-US" sz="1600" b="1" dirty="0">
                <a:solidFill>
                  <a:srgbClr val="FFFFFF"/>
                </a:solidFill>
                <a:latin typeface="Cambria" pitchFamily="34" charset="0"/>
                <a:ea typeface="Cambria" pitchFamily="34" charset="-122"/>
                <a:cs typeface="Cambria" pitchFamily="34" charset="-120"/>
              </a:rPr>
              <a:t>Questions ?</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 Backup Vault</dc:title>
  <dc:subject>PptxGenJS Presentation</dc:subject>
  <dc:creator>Karim ES-SOUABNI</dc:creator>
  <cp:lastModifiedBy>Karim ES-SOUABNI</cp:lastModifiedBy>
  <cp:revision>1</cp:revision>
  <dcterms:created xsi:type="dcterms:W3CDTF">2026-09-21T22:02:59Z</dcterms:created>
  <dcterms:modified xsi:type="dcterms:W3CDTF">2026-09-21T22:02:59Z</dcterms:modified>
</cp:coreProperties>
</file>